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7.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c83529d-6c0c-c79c-896c-50c18fe6b003}">
          <p14:sldIdLst>
            <p14:sldId id="256"/>
            <p14:sldId id="257"/>
            <p14:sldId id="258"/>
          </p14:sldIdLst>
        </p14:section>
        <p14:section name="Text track (Harika)" id="{fceb5fe8-dd69-c37d-f7a9-aca2ea1e0edc}">
          <p14:sldIdLst>
            <p14:sldId id="259"/>
            <p14:sldId id="260"/>
            <p14:sldId id="261"/>
          </p14:sldIdLst>
        </p14:section>
        <p14:section name="Image track (Ananya)" id="{139bda76-8c80-035c-2915-9094fe12ece1}">
          <p14:sldIdLst>
            <p14:sldId id="262"/>
            <p14:sldId id="263"/>
            <p14:sldId id="264"/>
          </p14:sldIdLst>
        </p14:section>
        <p14:section name="Combined track (Rafiul)" id="{77fcf900-2bbe-2b4a-2744-7bf7905e7976}">
          <p14:sldIdLst>
            <p14:sldId id="265"/>
            <p14:sldId id="266"/>
            <p14:sldId id="267"/>
          </p14:sldIdLst>
        </p14:section>
        <p14:section name="Together" id="{7165bb1f-7d99-eec3-d646-bc295bdf63c8}">
          <p14:sldIdLst>
            <p14:sldId id="268"/>
            <p14:sldId id="269"/>
            <p14:sldId id="270"/>
          </p14:sldIdLst>
        </p14:section>
        <p14:section name="Backup" id="{c37365a0-deaf-85b4-3da0-cc2c246c6521}">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Share of training articles (%)</a:t>
            </a:r>
          </a:p>
        </c:rich>
      </c:tx>
      <c:layout/>
      <c:overlay val="0"/>
    </c:title>
    <c:autoTitleDeleted val="0"/>
    <c:plotArea>
      <c:layout/>
      <c:barChart>
        <c:barDir val="bar"/>
        <c:grouping val="clustered"/>
        <c:varyColors val="0"/>
        <c:ser>
          <c:idx val="0"/>
          <c:order val="0"/>
          <c:tx>
            <c:strRef>
              <c:f>Sheet1!$B$1</c:f>
              <c:strCache>
                <c:ptCount val="1"/>
                <c:pt idx="0">
                  <c:v>Real</c:v>
                </c:pt>
              </c:strCache>
            </c:strRef>
          </c:tx>
          <c:spPr>
            <a:solidFill>
              <a:srgbClr val="9AA5B1"/>
            </a:solidFill>
            <a:effectLst/>
          </c:spPr>
          <c:invertIfNegative val="0"/>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cat>
            <c:multiLvlStrRef>
              <c:f>Sheet1!$A$2:$A$4</c:f>
              <c:multiLvlStrCache>
                <c:ptCount val="3"/>
                <c:lvl>
                  <c:pt idx="0">
                    <c:v>Mentions "reuters"</c:v>
                  </c:pt>
                  <c:pt idx="1">
                    <c:v>Has an "!"</c:v>
                  </c:pt>
                  <c:pt idx="2">
                    <c:v>Mentions "video"</c:v>
                  </c:pt>
                </c:lvl>
              </c:multiLvlStrCache>
            </c:multiLvlStrRef>
          </c:cat>
          <c:val>
            <c:numRef>
              <c:f>Sheet1!$B$2:$B$4</c:f>
              <c:numCache>
                <c:formatCode>General</c:formatCode>
                <c:ptCount val="3"/>
                <c:pt idx="0">
                  <c:v>61.8</c:v>
                </c:pt>
                <c:pt idx="1">
                  <c:v>8</c:v>
                </c:pt>
                <c:pt idx="2">
                  <c:v>7.6</c:v>
                </c:pt>
              </c:numCache>
            </c:numRef>
          </c:val>
        </c:ser>
        <c:ser>
          <c:idx val="1"/>
          <c:order val="1"/>
          <c:tx>
            <c:strRef>
              <c:f>Sheet1!$C$1</c:f>
              <c:strCache>
                <c:ptCount val="1"/>
                <c:pt idx="0">
                  <c:v>Fake</c:v>
                </c:pt>
              </c:strCache>
            </c:strRef>
          </c:tx>
          <c:spPr>
            <a:solidFill>
              <a:srgbClr val="0F8B8D"/>
            </a:solidFill>
            <a:effectLst/>
          </c:spPr>
          <c:invertIfNegative val="0"/>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cat>
            <c:multiLvlStrRef>
              <c:f>Sheet1!$A$2:$A$4</c:f>
              <c:multiLvlStrCache>
                <c:ptCount val="3"/>
                <c:lvl>
                  <c:pt idx="0">
                    <c:v>Mentions "reuters"</c:v>
                  </c:pt>
                  <c:pt idx="1">
                    <c:v>Has an "!"</c:v>
                  </c:pt>
                  <c:pt idx="2">
                    <c:v>Mentions "video"</c:v>
                  </c:pt>
                </c:lvl>
              </c:multiLvlStrCache>
            </c:multiLvlStrRef>
          </c:cat>
          <c:val>
            <c:numRef>
              <c:f>Sheet1!$C$2:$C$4</c:f>
              <c:numCache>
                <c:formatCode>General</c:formatCode>
                <c:ptCount val="3"/>
                <c:pt idx="0">
                  <c:v>1.6</c:v>
                </c:pt>
                <c:pt idx="1">
                  <c:v>35</c:v>
                </c:pt>
                <c:pt idx="2">
                  <c:v>34.4</c:v>
                </c:pt>
              </c:numCache>
            </c:numRef>
          </c:val>
        </c:ser>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75"/>
          <c:min val="0"/>
        </c:scaling>
        <c:delete val="1"/>
        <c:axPos val="b"/>
        <c:majorGridlines>
          <c:spPr>
            <a:ln w="9525" cap="flat">
              <a:solidFill>
                <a:srgbClr val="E3E7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Test accuracy (9,552 articles)</a:t>
            </a:r>
          </a:p>
        </c:rich>
      </c:tx>
      <c:layout/>
      <c:overlay val="0"/>
    </c:title>
    <c:autoTitleDeleted val="0"/>
    <c:plotArea>
      <c:layout/>
      <c:barChart>
        <c:barDir val="bar"/>
        <c:grouping val="stacked"/>
        <c:varyColors val="0"/>
        <c:ser>
          <c:idx val="0"/>
          <c:order val="0"/>
          <c:tx>
            <c:strRef>
              <c:f>Sheet1!$B$1</c:f>
              <c:strCache>
                <c:ptCount val="1"/>
                <c:pt idx="0">
                  <c:v>TF-IDF models</c:v>
                </c:pt>
              </c:strCache>
            </c:strRef>
          </c:tx>
          <c:spPr>
            <a:solidFill>
              <a:srgbClr val="0F8B8D"/>
            </a:solidFill>
            <a:effectLst/>
          </c:spPr>
          <c:invertIfNegative val="0"/>
          <c:dLbls>
            <c:numFmt formatCode="0.00&quot;%&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Naive Bayes</c:v>
                  </c:pt>
                  <c:pt idx="1">
                    <c:v>Random Forest</c:v>
                  </c:pt>
                  <c:pt idx="2">
                    <c:v>Logistic Regression</c:v>
                  </c:pt>
                  <c:pt idx="3">
                    <c:v>Linear SVM (cleaned text)</c:v>
                  </c:pt>
                  <c:pt idx="4">
                    <c:v>Linear SVM (raw text)</c:v>
                  </c:pt>
                  <c:pt idx="5">
                    <c:v>DistilBERT (early run)</c:v>
                  </c:pt>
                </c:lvl>
              </c:multiLvlStrCache>
            </c:multiLvlStrRef>
          </c:cat>
          <c:val>
            <c:numRef>
              <c:f>Sheet1!$B$2:$B$7</c:f>
              <c:numCache>
                <c:formatCode>General</c:formatCode>
                <c:ptCount val="6"/>
                <c:pt idx="0">
                  <c:v>87.6</c:v>
                </c:pt>
                <c:pt idx="1">
                  <c:v>93.84</c:v>
                </c:pt>
                <c:pt idx="2">
                  <c:v>95.24</c:v>
                </c:pt>
                <c:pt idx="3">
                  <c:v>96.49</c:v>
                </c:pt>
                <c:pt idx="4">
                  <c:v>97.44</c:v>
                </c:pt>
                <c:pt idx="5">
                  <c:v>0</c:v>
                </c:pt>
              </c:numCache>
            </c:numRef>
          </c:val>
        </c:ser>
        <c:ser>
          <c:idx val="1"/>
          <c:order val="1"/>
          <c:tx>
            <c:strRef>
              <c:f>Sheet1!$C$1</c:f>
              <c:strCache>
                <c:ptCount val="1"/>
                <c:pt idx="0">
                  <c:v>Transformer</c:v>
                </c:pt>
              </c:strCache>
            </c:strRef>
          </c:tx>
          <c:spPr>
            <a:solidFill>
              <a:srgbClr val="9FD4D5"/>
            </a:solidFill>
            <a:effectLst/>
          </c:spPr>
          <c:invertIfNegative val="0"/>
          <c:dLbls>
            <c:numFmt formatCode="0.00&quot;%&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Naive Bayes</c:v>
                  </c:pt>
                  <c:pt idx="1">
                    <c:v>Random Forest</c:v>
                  </c:pt>
                  <c:pt idx="2">
                    <c:v>Logistic Regression</c:v>
                  </c:pt>
                  <c:pt idx="3">
                    <c:v>Linear SVM (cleaned text)</c:v>
                  </c:pt>
                  <c:pt idx="4">
                    <c:v>Linear SVM (raw text)</c:v>
                  </c:pt>
                  <c:pt idx="5">
                    <c:v>DistilBERT (early run)</c:v>
                  </c:pt>
                </c:lvl>
              </c:multiLvlStrCache>
            </c:multiLvlStrRef>
          </c:cat>
          <c:val>
            <c:numRef>
              <c:f>Sheet1!$C$2:$C$7</c:f>
              <c:numCache>
                <c:formatCode>General</c:formatCode>
                <c:ptCount val="6"/>
                <c:pt idx="0">
                  <c:v>0</c:v>
                </c:pt>
                <c:pt idx="1">
                  <c:v>0</c:v>
                </c:pt>
                <c:pt idx="2">
                  <c:v>0</c:v>
                </c:pt>
                <c:pt idx="3">
                  <c:v>0</c:v>
                </c:pt>
                <c:pt idx="4">
                  <c:v>0</c:v>
                </c:pt>
                <c:pt idx="5">
                  <c:v>98.28</c:v>
                </c:pt>
              </c:numCache>
            </c:numRef>
          </c:val>
        </c:ser>
        <c:dLbls>
          <c:numFmt formatCode="0.00&quot;%&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b"/>
        <c:majorGridlines>
          <c:spPr>
            <a:ln w="9525" cap="flat">
              <a:solidFill>
                <a:srgbClr val="E3E7ED"/>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Test accuracy (3,986 images)</a:t>
            </a:r>
          </a:p>
        </c:rich>
      </c:tx>
      <c:layout/>
      <c:overlay val="0"/>
    </c:title>
    <c:autoTitleDeleted val="0"/>
    <c:plotArea>
      <c:layout/>
      <c:barChart>
        <c:barDir val="bar"/>
        <c:grouping val="stacked"/>
        <c:varyColors val="0"/>
        <c:ser>
          <c:idx val="0"/>
          <c:order val="0"/>
          <c:tx>
            <c:strRef>
              <c:f>Sheet1!$B$1</c:f>
              <c:strCache>
                <c:ptCount val="1"/>
                <c:pt idx="0">
                  <c:v>Baselines</c:v>
                </c:pt>
              </c:strCache>
            </c:strRef>
          </c:tx>
          <c:spPr>
            <a:solidFill>
              <a:srgbClr val="F0C78A"/>
            </a:solidFill>
            <a:effectLst/>
          </c:spPr>
          <c:invertIfNegative val="0"/>
          <c:dLbls>
            <c:numFmt formatCode="0.0&quot;%&quot;;;;" sourceLinked="0"/>
            <c:txPr>
              <a:bodyPr/>
              <a:lstStyle/>
              <a:p>
                <a:pPr>
                  <a:defRPr b="0" i="0" strike="noStrike" sz="1200" u="none">
                    <a:solidFill>
                      <a:srgbClr val="1B2333"/>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Always guess</c:v>
                  </c:pt>
                  <c:pt idx="1">
                    <c:v>21 features + LogReg</c:v>
                  </c:pt>
                  <c:pt idx="2">
                    <c:v>21 features + Random Forest</c:v>
                  </c:pt>
                  <c:pt idx="3">
                    <c:v>ResNet18 frozen</c:v>
                  </c:pt>
                  <c:pt idx="4">
                    <c:v>Small CNN</c:v>
                  </c:pt>
                  <c:pt idx="5">
                    <c:v>ResNet18 fine-tuned</c:v>
                  </c:pt>
                </c:lvl>
              </c:multiLvlStrCache>
            </c:multiLvlStrRef>
          </c:cat>
          <c:val>
            <c:numRef>
              <c:f>Sheet1!$B$2:$B$7</c:f>
              <c:numCache>
                <c:formatCode>General</c:formatCode>
                <c:ptCount val="6"/>
                <c:pt idx="0">
                  <c:v>49.8</c:v>
                </c:pt>
                <c:pt idx="1">
                  <c:v>86.8</c:v>
                </c:pt>
                <c:pt idx="2">
                  <c:v>87.9</c:v>
                </c:pt>
                <c:pt idx="3">
                  <c:v>88.1</c:v>
                </c:pt>
                <c:pt idx="4">
                  <c:v>94.2</c:v>
                </c:pt>
                <c:pt idx="5">
                  <c:v>0</c:v>
                </c:pt>
              </c:numCache>
            </c:numRef>
          </c:val>
        </c:ser>
        <c:ser>
          <c:idx val="1"/>
          <c:order val="1"/>
          <c:tx>
            <c:strRef>
              <c:f>Sheet1!$C$1</c:f>
              <c:strCache>
                <c:ptCount val="1"/>
                <c:pt idx="0">
                  <c:v>Best</c:v>
                </c:pt>
              </c:strCache>
            </c:strRef>
          </c:tx>
          <c:spPr>
            <a:solidFill>
              <a:srgbClr val="D98E2B"/>
            </a:solidFill>
            <a:effectLst/>
          </c:spPr>
          <c:invertIfNegative val="0"/>
          <c:dLbls>
            <c:numFmt formatCode="0.0&quot;%&quot;;;;" sourceLinked="0"/>
            <c:txPr>
              <a:bodyPr/>
              <a:lstStyle/>
              <a:p>
                <a:pPr>
                  <a:defRPr b="0" i="0" strike="noStrike" sz="1200" u="none">
                    <a:solidFill>
                      <a:srgbClr val="1B2333"/>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Always guess</c:v>
                  </c:pt>
                  <c:pt idx="1">
                    <c:v>21 features + LogReg</c:v>
                  </c:pt>
                  <c:pt idx="2">
                    <c:v>21 features + Random Forest</c:v>
                  </c:pt>
                  <c:pt idx="3">
                    <c:v>ResNet18 frozen</c:v>
                  </c:pt>
                  <c:pt idx="4">
                    <c:v>Small CNN</c:v>
                  </c:pt>
                  <c:pt idx="5">
                    <c:v>ResNet18 fine-tuned</c:v>
                  </c:pt>
                </c:lvl>
              </c:multiLvlStrCache>
            </c:multiLvlStrRef>
          </c:cat>
          <c:val>
            <c:numRef>
              <c:f>Sheet1!$C$2:$C$7</c:f>
              <c:numCache>
                <c:formatCode>General</c:formatCode>
                <c:ptCount val="6"/>
                <c:pt idx="0">
                  <c:v>0</c:v>
                </c:pt>
                <c:pt idx="1">
                  <c:v>0</c:v>
                </c:pt>
                <c:pt idx="2">
                  <c:v>0</c:v>
                </c:pt>
                <c:pt idx="3">
                  <c:v>0</c:v>
                </c:pt>
                <c:pt idx="4">
                  <c:v>0</c:v>
                </c:pt>
                <c:pt idx="5">
                  <c:v>96.3</c:v>
                </c:pt>
              </c:numCache>
            </c:numRef>
          </c:val>
        </c:ser>
        <c:dLbls>
          <c:numFmt formatCode="0.0&quot;%&quot;;;;" sourceLinked="0"/>
          <c:txPr>
            <a:bodyPr/>
            <a:lstStyle/>
            <a:p>
              <a:pPr>
                <a:defRPr b="0" i="0" strike="noStrike" sz="1200" u="none">
                  <a:solidFill>
                    <a:srgbClr val="1B2333"/>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3E7ED"/>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Fine-tuned ResNet18 accuracy</a:t>
            </a:r>
          </a:p>
        </c:rich>
      </c:tx>
      <c:layout/>
      <c:overlay val="0"/>
    </c:title>
    <c:autoTitleDeleted val="0"/>
    <c:plotArea>
      <c:layout/>
      <c:barChart>
        <c:barDir val="col"/>
        <c:grouping val="clustered"/>
        <c:varyColors val="0"/>
        <c:ser>
          <c:idx val="0"/>
          <c:order val="0"/>
          <c:tx>
            <c:strRef>
              <c:f>Sheet1!$B$1</c:f>
              <c:strCache>
                <c:ptCount val="1"/>
                <c:pt idx="0">
                  <c:v>ResNet18</c:v>
                </c:pt>
              </c:strCache>
            </c:strRef>
          </c:tx>
          <c:spPr>
            <a:solidFill>
              <a:srgbClr val="D98E2B"/>
            </a:solidFill>
            <a:effectLst/>
          </c:spPr>
          <c:invertIfNegative val="0"/>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cat>
            <c:multiLvlStrRef>
              <c:f>Sheet1!$A$2:$A$3</c:f>
              <c:multiLvlStrCache>
                <c:ptCount val="2"/>
                <c:lvl>
                  <c:pt idx="0">
                    <c:v>Clean test</c:v>
                  </c:pt>
                  <c:pt idx="1">
                    <c:v>Mild blur (σ = 0.5)</c:v>
                  </c:pt>
                </c:lvl>
              </c:multiLvlStrCache>
            </c:multiLvlStrRef>
          </c:cat>
          <c:val>
            <c:numRef>
              <c:f>Sheet1!$B$2:$B$3</c:f>
              <c:numCache>
                <c:formatCode>General</c:formatCode>
                <c:ptCount val="2"/>
                <c:pt idx="0">
                  <c:v>96.3</c:v>
                </c:pt>
                <c:pt idx="1">
                  <c:v>85.6</c:v>
                </c:pt>
              </c:numCache>
            </c:numRef>
          </c:val>
        </c:ser>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7ED"/>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Accuracy</a:t>
            </a:r>
          </a:p>
        </c:rich>
      </c:tx>
      <c:layout/>
      <c:overlay val="0"/>
    </c:title>
    <c:autoTitleDeleted val="0"/>
    <c:plotArea>
      <c:layout/>
      <c:barChart>
        <c:barDir val="col"/>
        <c:grouping val="clustered"/>
        <c:varyColors val="0"/>
        <c:ser>
          <c:idx val="0"/>
          <c:order val="0"/>
          <c:tx>
            <c:strRef>
              <c:f>Sheet1!$B$1</c:f>
              <c:strCache>
                <c:ptCount val="1"/>
                <c:pt idx="0">
                  <c:v>LAYA-Vision (image + text)</c:v>
                </c:pt>
              </c:strCache>
            </c:strRef>
          </c:tx>
          <c:spPr>
            <a:solidFill>
              <a:srgbClr val="6A55C9"/>
            </a:solidFill>
            <a:effectLst/>
          </c:spPr>
          <c:invertIfNegative val="0"/>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cat>
            <c:multiLvlStrRef>
              <c:f>Sheet1!$A$2:$A$4</c:f>
              <c:multiLvlStrCache>
                <c:ptCount val="3"/>
                <c:lvl>
                  <c:pt idx="0">
                    <c:v>MMFakeBench</c:v>
                  </c:pt>
                  <c:pt idx="1">
                    <c:v>VERITE</c:v>
                  </c:pt>
                  <c:pt idx="2">
                    <c:v>NewsCLIPpings</c:v>
                  </c:pt>
                </c:lvl>
              </c:multiLvlStrCache>
            </c:multiLvlStrRef>
          </c:cat>
          <c:val>
            <c:numRef>
              <c:f>Sheet1!$B$2:$B$4</c:f>
              <c:numCache>
                <c:formatCode>General</c:formatCode>
                <c:ptCount val="3"/>
                <c:pt idx="0">
                  <c:v>26.4</c:v>
                </c:pt>
                <c:pt idx="1">
                  <c:v>35.7</c:v>
                </c:pt>
                <c:pt idx="2">
                  <c:v>50.8</c:v>
                </c:pt>
              </c:numCache>
            </c:numRef>
          </c:val>
        </c:ser>
        <c:ser>
          <c:idx val="1"/>
          <c:order val="1"/>
          <c:tx>
            <c:strRef>
              <c:f>Sheet1!$C$1</c:f>
              <c:strCache>
                <c:ptCount val="1"/>
                <c:pt idx="0">
                  <c:v>Guessing floor</c:v>
                </c:pt>
              </c:strCache>
            </c:strRef>
          </c:tx>
          <c:spPr>
            <a:solidFill>
              <a:srgbClr val="9AA5B1"/>
            </a:solidFill>
            <a:effectLst/>
          </c:spPr>
          <c:invertIfNegative val="0"/>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cat>
            <c:multiLvlStrRef>
              <c:f>Sheet1!$A$2:$A$4</c:f>
              <c:multiLvlStrCache>
                <c:ptCount val="3"/>
                <c:lvl>
                  <c:pt idx="0">
                    <c:v>MMFakeBench</c:v>
                  </c:pt>
                  <c:pt idx="1">
                    <c:v>VERITE</c:v>
                  </c:pt>
                  <c:pt idx="2">
                    <c:v>NewsCLIPpings</c:v>
                  </c:pt>
                </c:lvl>
              </c:multiLvlStrCache>
            </c:multiLvlStrRef>
          </c:cat>
          <c:val>
            <c:numRef>
              <c:f>Sheet1!$C$2:$C$4</c:f>
              <c:numCache>
                <c:formatCode>General</c:formatCode>
                <c:ptCount val="3"/>
                <c:pt idx="0">
                  <c:v>30</c:v>
                </c:pt>
                <c:pt idx="1">
                  <c:v>33.3</c:v>
                </c:pt>
                <c:pt idx="2">
                  <c:v>50</c:v>
                </c:pt>
              </c:numCache>
            </c:numRef>
          </c:val>
        </c:ser>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E3E7ED"/>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Accuracy</a:t>
            </a:r>
          </a:p>
        </c:rich>
      </c:tx>
      <c:layout/>
      <c:overlay val="0"/>
    </c:title>
    <c:autoTitleDeleted val="0"/>
    <c:plotArea>
      <c:layout/>
      <c:barChart>
        <c:barDir val="col"/>
        <c:grouping val="clustered"/>
        <c:varyColors val="0"/>
        <c:ser>
          <c:idx val="0"/>
          <c:order val="0"/>
          <c:tx>
            <c:strRef>
              <c:f>Sheet1!$B$1</c:f>
              <c:strCache>
                <c:ptCount val="1"/>
                <c:pt idx="0">
                  <c:v>Asked cold</c:v>
                </c:pt>
              </c:strCache>
            </c:strRef>
          </c:tx>
          <c:spPr>
            <a:solidFill>
              <a:srgbClr val="BDB2EC"/>
            </a:solidFill>
            <a:effectLst/>
          </c:spPr>
          <c:invertIfNegative val="0"/>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cat>
            <c:multiLvlStrRef>
              <c:f>Sheet1!$A$2:$A$3</c:f>
              <c:multiLvlStrCache>
                <c:ptCount val="2"/>
                <c:lvl>
                  <c:pt idx="0">
                    <c:v>NewsCLIPpings test (sealed)</c:v>
                  </c:pt>
                  <c:pt idx="1">
                    <c:v>VERITE true vs out-of-context</c:v>
                  </c:pt>
                </c:lvl>
              </c:multiLvlStrCache>
            </c:multiLvlStrRef>
          </c:cat>
          <c:val>
            <c:numRef>
              <c:f>Sheet1!$B$2:$B$3</c:f>
              <c:numCache>
                <c:formatCode>General</c:formatCode>
                <c:ptCount val="2"/>
                <c:pt idx="0">
                  <c:v>51.1</c:v>
                </c:pt>
                <c:pt idx="1">
                  <c:v>50.5</c:v>
                </c:pt>
              </c:numCache>
            </c:numRef>
          </c:val>
        </c:ser>
        <c:ser>
          <c:idx val="1"/>
          <c:order val="1"/>
          <c:tx>
            <c:strRef>
              <c:f>Sheet1!$C$1</c:f>
              <c:strCache>
                <c:ptCount val="1"/>
                <c:pt idx="0">
                  <c:v>With a small trained helper</c:v>
                </c:pt>
              </c:strCache>
            </c:strRef>
          </c:tx>
          <c:spPr>
            <a:solidFill>
              <a:srgbClr val="6A55C9"/>
            </a:solidFill>
            <a:effectLst/>
          </c:spPr>
          <c:invertIfNegative val="0"/>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cat>
            <c:multiLvlStrRef>
              <c:f>Sheet1!$A$2:$A$3</c:f>
              <c:multiLvlStrCache>
                <c:ptCount val="2"/>
                <c:lvl>
                  <c:pt idx="0">
                    <c:v>NewsCLIPpings test (sealed)</c:v>
                  </c:pt>
                  <c:pt idx="1">
                    <c:v>VERITE true vs out-of-context</c:v>
                  </c:pt>
                </c:lvl>
              </c:multiLvlStrCache>
            </c:multiLvlStrRef>
          </c:cat>
          <c:val>
            <c:numRef>
              <c:f>Sheet1!$C$2:$C$3</c:f>
              <c:numCache>
                <c:formatCode>General</c:formatCode>
                <c:ptCount val="2"/>
                <c:pt idx="0">
                  <c:v>57.4</c:v>
                </c:pt>
                <c:pt idx="1">
                  <c:v>54.9</c:v>
                </c:pt>
              </c:numCache>
            </c:numRef>
          </c:val>
        </c:ser>
        <c:dLbls>
          <c:numFmt formatCode="0.0&quot;%&quot;"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3E7ED"/>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NewsCLIPpings test accuracy</a:t>
            </a:r>
          </a:p>
        </c:rich>
      </c:tx>
      <c:layout/>
      <c:overlay val="0"/>
    </c:title>
    <c:autoTitleDeleted val="0"/>
    <c:plotArea>
      <c:layout/>
      <c:barChart>
        <c:barDir val="bar"/>
        <c:grouping val="stacked"/>
        <c:varyColors val="0"/>
        <c:ser>
          <c:idx val="0"/>
          <c:order val="0"/>
          <c:tx>
            <c:strRef>
              <c:f>Sheet1!$B$1</c:f>
              <c:strCache>
                <c:ptCount val="1"/>
                <c:pt idx="0">
                  <c:v>This study</c:v>
                </c:pt>
              </c:strCache>
            </c:strRef>
          </c:tx>
          <c:spPr>
            <a:solidFill>
              <a:srgbClr val="6A55C9"/>
            </a:solidFill>
            <a:effectLst/>
          </c:spPr>
          <c:invertIfNegative val="0"/>
          <c:dLbls>
            <c:numFmt formatCode="0.0&quot;%&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This study, asked cold</c:v>
                  </c:pt>
                  <c:pt idx="1">
                    <c:v>This study, with helper</c:v>
                  </c:pt>
                  <c:pt idx="2">
                    <c:v>CLIP, fine-tuned</c:v>
                  </c:pt>
                  <c:pt idx="3">
                    <c:v>LAMAR Attention</c:v>
                  </c:pt>
                  <c:pt idx="4">
                    <c:v>CCN</c:v>
                  </c:pt>
                  <c:pt idx="5">
                    <c:v>SNIFFER</c:v>
                  </c:pt>
                </c:lvl>
              </c:multiLvlStrCache>
            </c:multiLvlStrRef>
          </c:cat>
          <c:val>
            <c:numRef>
              <c:f>Sheet1!$B$2:$B$7</c:f>
              <c:numCache>
                <c:formatCode>General</c:formatCode>
                <c:ptCount val="6"/>
                <c:pt idx="0">
                  <c:v>51.1</c:v>
                </c:pt>
                <c:pt idx="1">
                  <c:v>57.4</c:v>
                </c:pt>
                <c:pt idx="2">
                  <c:v>0</c:v>
                </c:pt>
                <c:pt idx="3">
                  <c:v>0</c:v>
                </c:pt>
                <c:pt idx="4">
                  <c:v>0</c:v>
                </c:pt>
                <c:pt idx="5">
                  <c:v>0</c:v>
                </c:pt>
              </c:numCache>
            </c:numRef>
          </c:val>
        </c:ser>
        <c:ser>
          <c:idx val="1"/>
          <c:order val="1"/>
          <c:tx>
            <c:strRef>
              <c:f>Sheet1!$C$1</c:f>
              <c:strCache>
                <c:ptCount val="1"/>
                <c:pt idx="0">
                  <c:v>Published</c:v>
                </c:pt>
              </c:strCache>
            </c:strRef>
          </c:tx>
          <c:spPr>
            <a:solidFill>
              <a:srgbClr val="9AA5B1"/>
            </a:solidFill>
            <a:effectLst/>
          </c:spPr>
          <c:invertIfNegative val="0"/>
          <c:dLbls>
            <c:numFmt formatCode="0.0&quot;%&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This study, asked cold</c:v>
                  </c:pt>
                  <c:pt idx="1">
                    <c:v>This study, with helper</c:v>
                  </c:pt>
                  <c:pt idx="2">
                    <c:v>CLIP, fine-tuned</c:v>
                  </c:pt>
                  <c:pt idx="3">
                    <c:v>LAMAR Attention</c:v>
                  </c:pt>
                  <c:pt idx="4">
                    <c:v>CCN</c:v>
                  </c:pt>
                  <c:pt idx="5">
                    <c:v>SNIFFER</c:v>
                  </c:pt>
                </c:lvl>
              </c:multiLvlStrCache>
            </c:multiLvlStrRef>
          </c:cat>
          <c:val>
            <c:numRef>
              <c:f>Sheet1!$C$2:$C$7</c:f>
              <c:numCache>
                <c:formatCode>General</c:formatCode>
                <c:ptCount val="6"/>
                <c:pt idx="0">
                  <c:v>0</c:v>
                </c:pt>
                <c:pt idx="1">
                  <c:v>0</c:v>
                </c:pt>
                <c:pt idx="2">
                  <c:v>60.2</c:v>
                </c:pt>
                <c:pt idx="3">
                  <c:v>84.8</c:v>
                </c:pt>
                <c:pt idx="4">
                  <c:v>84.7</c:v>
                </c:pt>
                <c:pt idx="5">
                  <c:v>88.4</c:v>
                </c:pt>
              </c:numCache>
            </c:numRef>
          </c:val>
        </c:ser>
        <c:dLbls>
          <c:numFmt formatCode="0.0&quot;%&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3E7ED"/>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introduce the team. Our project builds three detectors, one for each way misinformation spreads: false text, fake images, and real images paired with the wrong caption. Harika presents the text track, Ananya the image track, and Rafiul the combined track with the LAYA-Vision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Misinformation travels three ways. Sometimes the text is false. Sometimes the image is edited or generated. And often both are real, but a photo from one event is shown with a caption about another. Each of us took one of these and built a detector for it, each on a dataset designed for that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tracks follow the same habits. We clean duplicates and leaks before testing. We always compare against what guessing would score. We report uncertainty ranges. And every result comes with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Harika: WELFake has 72,134 news articles; after removing 8,456 exact duplicates we keep 63,678 and freeze a 70/15/15 split. Real and fake articles look different: most real articles mention Reuters, while fake ones use far more exclamation marks and the word video. Always guessing Real gives 54.6%, which is our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Harika: we compared four classical models on TF-IDF features. Accuracy rises from 87.6% for Naive Bayes to 97.4% for a linear SVM on raw text. A first DistilBERT run reached 98.3%, but it used only 5,000 articles for one epoch, so we treat it as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Harika: removing just the word Reuters drops the SVM from 97.4% to 96.2%, so part of the score is outlet style. Next we build the SVM plus DistilBERT ensemble, compare features with LIME and SHAP, and test on ISOT and LIAR without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Ananya: CIFAKE has 120,000 tiny images, half real from CIFAR-10 and half generated by Stable Diffusion. Before training, an audit found thousands of duplicates, including 378 files shared between train and test. We removed them and built a clean working split of 10,000, 1,996 and 3,986 images with zero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Ananya: we climbed a ladder of models. Guessing gets about 50%. Twenty-one handcrafted features reach about 87%. A small CNN reaches 94.2%, and fine-tuned ResNet18 reaches 96.3% with an AUC of 0.995. The small CNN is 39 times smaller for only 2.1 points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Ananya: stress tests show what the model relies on. A mild blur drops accuracy from 96.3% to 85.6%, and a strong blur drops AUC to 0.77, while grayscale and JPEG compression barely matter. So the model uses fine detail, not color. Next we test it on generators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Rafiul: before fine-tuning, we asked what the pretrained LAYA-Vision model already knows. We froze it and asked each dataset's own question on three benchmarks, using the same rows with the image and text, the text only, and the image only. That gives the reference a fine-tuned model has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Rafiul: asked cold, the model is close to guessing on all three: 26.4% on MMFakeBench where always picking the most common answer gets 30%, 35.7% on VERITE against one in three, and 50.8% on NewsCLIPpings against a coin flip. Two surprises: on MMFakeBench, the source names alone predict 91.5% of the labels. And adding the image lowered accuracy by 1.5 points on average, with large swings by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Rafiul: published systems train on NewsCLIPpings and test on the target, so we did the same without changing the model. A small linear helper trained on the model's frozen features raised accuracy from 51.1% to 57.4% on a test set we kept sealed until the end. So the information is inside the model; its direct answer just does not use it. On VERITE the gain is smaller and could be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put together, each track found real signal and a weak spot. Text models read outlet style. The image model depends on fine detail that blur removes. And on MMFakeBench, source names give the labels away. We are not ranking the tracks; the tasks differ. The shared lesson is that every benchmark hides a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for the final, Harika adds the ensemble, explanations and two new datasets. Ananya tests on unseen generators with three seeds. Rafiul trains Attention and Gate heads on the frozen model and adds a CLIP classifier. Then we agree on one output format and build a single app that gives a verdict for text, an image, 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thank you. We are happy to take questions on any of the three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published systems reach 60% to 88% on the same test split, but they retrain their whole model, and two of them look up evidence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split by source, the image effect ranges from minus 18 to plus 18 points; the average of minus 1.5 hides that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confusion matrices for the three zero-shot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showcase folder holds the synthesis, notebooks, figures and reports for the combined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108960"/>
            <a:ext cx="10698480" cy="7315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CS 668 · Multimodal Misinformation Detector</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Multimodal Misinformation Detector</a:t>
            </a:r>
            <a:endParaRPr lang="en-US" sz="4400" dirty="0"/>
          </a:p>
        </p:txBody>
      </p:sp>
      <p:sp>
        <p:nvSpPr>
          <p:cNvPr id="3" name="Text 0"/>
          <p:cNvSpPr/>
          <p:nvPr>
            <p:ph idx="101" type="body" hasCustomPrompt="1"/>
          </p:nvPr>
        </p:nvSpPr>
        <p:spPr>
          <a:xfrm>
            <a:off x="731520" y="3108960"/>
            <a:ext cx="10698480" cy="731520"/>
          </a:xfrm>
          <a:prstGeom prst="rect">
            <a:avLst/>
          </a:prstGeom>
          <a:noFill/>
          <a:ln/>
        </p:spPr>
        <p:txBody>
          <a:bodyPr wrap="square" lIns="0" tIns="0" rIns="0" bIns="0" rtlCol="0" anchor="t"/>
          <a:lstStyle/>
          <a:p>
            <a:pPr algn="l" indent="0" marL="0">
              <a:buNone/>
            </a:pPr>
            <a:r>
              <a:rPr lang="en-US" sz="2000" dirty="0">
                <a:solidFill>
                  <a:schemeClr val="bg2"/>
                </a:solidFill>
              </a:rPr>
              <a:t>Three tracks, one question: what does each kind of evidence really tell us?</a:t>
            </a:r>
            <a:endParaRPr lang="en-US" sz="2000" dirty="0"/>
          </a:p>
        </p:txBody>
      </p:sp>
      <p:sp>
        <p:nvSpPr>
          <p:cNvPr id="4" name="Shape 2"/>
          <p:cNvSpPr/>
          <p:nvPr/>
        </p:nvSpPr>
        <p:spPr>
          <a:xfrm>
            <a:off x="731520" y="4572000"/>
            <a:ext cx="822960" cy="8229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2688" y="4773168"/>
            <a:ext cx="420624" cy="420624"/>
          </a:xfrm>
          <a:prstGeom prst="rect">
            <a:avLst/>
          </a:prstGeom>
        </p:spPr>
      </p:pic>
      <p:sp>
        <p:nvSpPr>
          <p:cNvPr id="6" name="Text 3"/>
          <p:cNvSpPr txBox="1"/>
          <p:nvPr/>
        </p:nvSpPr>
        <p:spPr>
          <a:xfrm>
            <a:off x="1691640" y="4553712"/>
            <a:ext cx="2468880" cy="868680"/>
          </a:xfrm>
          <a:prstGeom prst="rect">
            <a:avLst/>
          </a:prstGeom>
          <a:noFill/>
          <a:ln/>
        </p:spPr>
        <p:txBody>
          <a:bodyPr wrap="square" lIns="0" tIns="0" rIns="0" bIns="0" rtlCol="0" anchor="ctr"/>
          <a:lstStyle/>
          <a:p>
            <a:pPr indent="0" marL="0">
              <a:buNone/>
            </a:pPr>
            <a:r>
              <a:rPr lang="en-US" sz="1600" b="1" dirty="0">
                <a:solidFill>
                  <a:schemeClr val="bg1"/>
                </a:solidFill>
              </a:rPr>
              <a:t>Harika Etikela</a:t>
            </a:r>
            <a:endParaRPr lang="en-US" sz="1600" dirty="0"/>
          </a:p>
          <a:p>
            <a:pPr indent="0" marL="0">
              <a:buNone/>
            </a:pPr>
            <a:r>
              <a:rPr lang="en-US" sz="1600" dirty="0">
                <a:solidFill>
                  <a:schemeClr val="bg1"/>
                </a:solidFill>
              </a:rPr>
              <a:t>Text track</a:t>
            </a:r>
            <a:endParaRPr lang="en-US" sz="1600" dirty="0"/>
          </a:p>
        </p:txBody>
      </p:sp>
      <p:sp>
        <p:nvSpPr>
          <p:cNvPr id="7" name="Shape 4"/>
          <p:cNvSpPr/>
          <p:nvPr/>
        </p:nvSpPr>
        <p:spPr>
          <a:xfrm>
            <a:off x="4297680" y="4572000"/>
            <a:ext cx="822960" cy="822960"/>
          </a:xfrm>
          <a:prstGeom prst="ellipse">
            <a:avLst/>
          </a:prstGeom>
          <a:solidFill>
            <a:schemeClr val="accent2"/>
          </a:solidFill>
          <a:ln/>
        </p:spPr>
      </p:sp>
      <p:pic>
        <p:nvPicPr>
          <p:cNvPr id="8" name="Image 1" descr="preencoded.png">    </p:cNvPr>
          <p:cNvPicPr>
            <a:picLocks noChangeAspect="1"/>
          </p:cNvPicPr>
          <p:nvPr/>
        </p:nvPicPr>
        <p:blipFill>
          <a:blip r:embed="rId2"/>
          <a:stretch>
            <a:fillRect/>
          </a:stretch>
        </p:blipFill>
        <p:spPr>
          <a:xfrm>
            <a:off x="4498848" y="4773168"/>
            <a:ext cx="420624" cy="420624"/>
          </a:xfrm>
          <a:prstGeom prst="rect">
            <a:avLst/>
          </a:prstGeom>
        </p:spPr>
      </p:pic>
      <p:sp>
        <p:nvSpPr>
          <p:cNvPr id="9" name="Text 5"/>
          <p:cNvSpPr txBox="1"/>
          <p:nvPr/>
        </p:nvSpPr>
        <p:spPr>
          <a:xfrm>
            <a:off x="5257800" y="4553712"/>
            <a:ext cx="2468880" cy="868680"/>
          </a:xfrm>
          <a:prstGeom prst="rect">
            <a:avLst/>
          </a:prstGeom>
          <a:noFill/>
          <a:ln/>
        </p:spPr>
        <p:txBody>
          <a:bodyPr wrap="square" lIns="0" tIns="0" rIns="0" bIns="0" rtlCol="0" anchor="ctr"/>
          <a:lstStyle/>
          <a:p>
            <a:pPr indent="0" marL="0">
              <a:buNone/>
            </a:pPr>
            <a:r>
              <a:rPr lang="en-US" sz="1600" b="1" dirty="0">
                <a:solidFill>
                  <a:schemeClr val="bg1"/>
                </a:solidFill>
              </a:rPr>
              <a:t>Ananya</a:t>
            </a:r>
            <a:endParaRPr lang="en-US" sz="1600" dirty="0"/>
          </a:p>
          <a:p>
            <a:pPr indent="0" marL="0">
              <a:buNone/>
            </a:pPr>
            <a:r>
              <a:rPr lang="en-US" sz="1600" dirty="0">
                <a:solidFill>
                  <a:schemeClr val="bg1"/>
                </a:solidFill>
              </a:rPr>
              <a:t>Image track</a:t>
            </a:r>
            <a:endParaRPr lang="en-US" sz="1600" dirty="0"/>
          </a:p>
        </p:txBody>
      </p:sp>
      <p:sp>
        <p:nvSpPr>
          <p:cNvPr id="10" name="Shape 6"/>
          <p:cNvSpPr/>
          <p:nvPr/>
        </p:nvSpPr>
        <p:spPr>
          <a:xfrm>
            <a:off x="7863840" y="4572000"/>
            <a:ext cx="822960" cy="822960"/>
          </a:xfrm>
          <a:prstGeom prst="ellipse">
            <a:avLst/>
          </a:prstGeom>
          <a:solidFill>
            <a:schemeClr val="accent3"/>
          </a:solidFill>
          <a:ln/>
        </p:spPr>
      </p:sp>
      <p:pic>
        <p:nvPicPr>
          <p:cNvPr id="11" name="Image 2" descr="preencoded.png">    </p:cNvPr>
          <p:cNvPicPr>
            <a:picLocks noChangeAspect="1"/>
          </p:cNvPicPr>
          <p:nvPr/>
        </p:nvPicPr>
        <p:blipFill>
          <a:blip r:embed="rId3"/>
          <a:stretch>
            <a:fillRect/>
          </a:stretch>
        </p:blipFill>
        <p:spPr>
          <a:xfrm>
            <a:off x="8065008" y="4773168"/>
            <a:ext cx="420624" cy="420624"/>
          </a:xfrm>
          <a:prstGeom prst="rect">
            <a:avLst/>
          </a:prstGeom>
        </p:spPr>
      </p:pic>
      <p:sp>
        <p:nvSpPr>
          <p:cNvPr id="12" name="Text 7"/>
          <p:cNvSpPr txBox="1"/>
          <p:nvPr/>
        </p:nvSpPr>
        <p:spPr>
          <a:xfrm>
            <a:off x="8823960" y="4553712"/>
            <a:ext cx="2468880" cy="868680"/>
          </a:xfrm>
          <a:prstGeom prst="rect">
            <a:avLst/>
          </a:prstGeom>
          <a:noFill/>
          <a:ln/>
        </p:spPr>
        <p:txBody>
          <a:bodyPr wrap="square" lIns="0" tIns="0" rIns="0" bIns="0" rtlCol="0" anchor="ctr"/>
          <a:lstStyle/>
          <a:p>
            <a:pPr indent="0" marL="0">
              <a:buNone/>
            </a:pPr>
            <a:r>
              <a:rPr lang="en-US" sz="1600" b="1" dirty="0">
                <a:solidFill>
                  <a:schemeClr val="bg1"/>
                </a:solidFill>
              </a:rPr>
              <a:t>Rafiul Haider</a:t>
            </a:r>
            <a:endParaRPr lang="en-US" sz="1600" dirty="0"/>
          </a:p>
          <a:p>
            <a:pPr indent="0" marL="0">
              <a:buNone/>
            </a:pPr>
            <a:r>
              <a:rPr lang="en-US" sz="1600" dirty="0">
                <a:solidFill>
                  <a:schemeClr val="bg1"/>
                </a:solidFill>
              </a:rPr>
              <a:t>Combined track</a:t>
            </a:r>
            <a:endParaRPr lang="en-US" sz="1600" dirty="0"/>
          </a:p>
        </p:txBody>
      </p:sp>
      <p:sp>
        <p:nvSpPr>
          <p:cNvPr id="13" name="Text 8"/>
          <p:cNvSpPr txBox="1"/>
          <p:nvPr/>
        </p:nvSpPr>
        <p:spPr>
          <a:xfrm>
            <a:off x="731520" y="6035040"/>
            <a:ext cx="10698480" cy="365760"/>
          </a:xfrm>
          <a:prstGeom prst="rect">
            <a:avLst/>
          </a:prstGeom>
          <a:noFill/>
          <a:ln/>
        </p:spPr>
        <p:txBody>
          <a:bodyPr wrap="square" lIns="0" tIns="0" rIns="0" bIns="0" rtlCol="0" anchor="ctr"/>
          <a:lstStyle/>
          <a:p>
            <a:pPr indent="0" marL="0">
              <a:buNone/>
            </a:pPr>
            <a:r>
              <a:rPr lang="en-US" sz="1400" dirty="0">
                <a:solidFill>
                  <a:schemeClr val="accent4"/>
                </a:solidFill>
              </a:rPr>
              <a:t>CS 668 Analytics Capstone · Pace University · Midterm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One problem, three ways it spreads</a:t>
            </a:r>
            <a:endParaRPr lang="en-US" sz="3200" dirty="0"/>
          </a:p>
        </p:txBody>
      </p:sp>
      <p:sp>
        <p:nvSpPr>
          <p:cNvPr id="3" name="text card"/>
          <p:cNvSpPr/>
          <p:nvPr/>
        </p:nvSpPr>
        <p:spPr>
          <a:xfrm>
            <a:off x="548640" y="1417320"/>
            <a:ext cx="3520440" cy="4206240"/>
          </a:xfrm>
          <a:prstGeom prst="roundRect">
            <a:avLst>
              <a:gd name="adj" fmla="val 3896"/>
            </a:avLst>
          </a:prstGeom>
          <a:solidFill>
            <a:schemeClr val="bg1"/>
          </a:solidFill>
          <a:ln w="12700">
            <a:solidFill>
              <a:srgbClr val="E3E7ED"/>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868680" y="1737360"/>
            <a:ext cx="914400" cy="9144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97280" y="1965960"/>
            <a:ext cx="457200" cy="457200"/>
          </a:xfrm>
          <a:prstGeom prst="rect">
            <a:avLst/>
          </a:prstGeom>
        </p:spPr>
      </p:pic>
      <p:sp>
        <p:nvSpPr>
          <p:cNvPr id="6" name="Text 3"/>
          <p:cNvSpPr txBox="1"/>
          <p:nvPr/>
        </p:nvSpPr>
        <p:spPr>
          <a:xfrm>
            <a:off x="868680" y="2834640"/>
            <a:ext cx="2926080" cy="77724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False text</a:t>
            </a:r>
            <a:endParaRPr lang="en-US" sz="2200" dirty="0"/>
          </a:p>
        </p:txBody>
      </p:sp>
      <p:sp>
        <p:nvSpPr>
          <p:cNvPr id="7" name="Text 4"/>
          <p:cNvSpPr txBox="1"/>
          <p:nvPr/>
        </p:nvSpPr>
        <p:spPr>
          <a:xfrm>
            <a:off x="868680" y="3611880"/>
            <a:ext cx="2926080" cy="640080"/>
          </a:xfrm>
          <a:prstGeom prst="rect">
            <a:avLst/>
          </a:prstGeom>
          <a:noFill/>
          <a:ln/>
        </p:spPr>
        <p:txBody>
          <a:bodyPr wrap="square" lIns="0" tIns="0" rIns="0" bIns="0" rtlCol="0" anchor="t"/>
          <a:lstStyle/>
          <a:p>
            <a:pPr indent="0" marL="0">
              <a:buNone/>
            </a:pPr>
            <a:r>
              <a:rPr lang="en-US" sz="1500" dirty="0">
                <a:solidFill>
                  <a:schemeClr val="tx1"/>
                </a:solidFill>
              </a:rPr>
              <a:t>The claim in the article is wrong</a:t>
            </a:r>
            <a:endParaRPr lang="en-US" sz="1500" dirty="0"/>
          </a:p>
        </p:txBody>
      </p:sp>
      <p:sp>
        <p:nvSpPr>
          <p:cNvPr id="8" name="Text 5"/>
          <p:cNvSpPr txBox="1"/>
          <p:nvPr/>
        </p:nvSpPr>
        <p:spPr>
          <a:xfrm>
            <a:off x="868680" y="4343400"/>
            <a:ext cx="2926080" cy="594360"/>
          </a:xfrm>
          <a:prstGeom prst="rect">
            <a:avLst/>
          </a:prstGeom>
          <a:noFill/>
          <a:ln/>
        </p:spPr>
        <p:txBody>
          <a:bodyPr wrap="square" lIns="0" tIns="0" rIns="0" bIns="0" rtlCol="0" anchor="ctr"/>
          <a:lstStyle/>
          <a:p>
            <a:pPr indent="0" marL="0">
              <a:buNone/>
            </a:pPr>
            <a:r>
              <a:rPr lang="en-US" sz="1400" b="1" dirty="0">
                <a:solidFill>
                  <a:schemeClr val="accent1"/>
                </a:solidFill>
              </a:rPr>
              <a:t>Text track</a:t>
            </a:r>
            <a:endParaRPr lang="en-US" sz="1400" dirty="0"/>
          </a:p>
          <a:p>
            <a:pPr indent="0" marL="0">
              <a:buNone/>
            </a:pPr>
            <a:r>
              <a:rPr lang="en-US" sz="1400" dirty="0">
                <a:solidFill>
                  <a:schemeClr val="tx1"/>
                </a:solidFill>
              </a:rPr>
              <a:t>Harika Etikela</a:t>
            </a:r>
            <a:endParaRPr lang="en-US" sz="1400" dirty="0"/>
          </a:p>
        </p:txBody>
      </p:sp>
      <p:sp>
        <p:nvSpPr>
          <p:cNvPr id="9" name="Shape 6"/>
          <p:cNvSpPr/>
          <p:nvPr/>
        </p:nvSpPr>
        <p:spPr>
          <a:xfrm>
            <a:off x="868680" y="5029200"/>
            <a:ext cx="2880360" cy="384048"/>
          </a:xfrm>
          <a:prstGeom prst="roundRect">
            <a:avLst>
              <a:gd name="adj" fmla="val 50000"/>
            </a:avLst>
          </a:prstGeom>
          <a:solidFill>
            <a:schemeClr val="bg2"/>
          </a:solidFill>
          <a:ln/>
        </p:spPr>
      </p:sp>
      <p:sp>
        <p:nvSpPr>
          <p:cNvPr id="10" name="Text 7"/>
          <p:cNvSpPr txBox="1"/>
          <p:nvPr/>
        </p:nvSpPr>
        <p:spPr>
          <a:xfrm>
            <a:off x="960120" y="5029200"/>
            <a:ext cx="2697480" cy="384048"/>
          </a:xfrm>
          <a:prstGeom prst="rect">
            <a:avLst/>
          </a:prstGeom>
          <a:noFill/>
          <a:ln/>
        </p:spPr>
        <p:txBody>
          <a:bodyPr wrap="square" lIns="0" tIns="0" rIns="0" bIns="0" rtlCol="0" anchor="ctr">
            <a:normAutofit/>
          </a:bodyPr>
          <a:lstStyle/>
          <a:p>
            <a:pPr algn="ctr" indent="0" marL="0">
              <a:buNone/>
            </a:pPr>
            <a:r>
              <a:rPr lang="en-US" sz="1200" dirty="0">
                <a:solidFill>
                  <a:schemeClr val="tx1"/>
                </a:solidFill>
              </a:rPr>
              <a:t>WELFake</a:t>
            </a:r>
            <a:endParaRPr lang="en-US" sz="1200" dirty="0"/>
          </a:p>
        </p:txBody>
      </p:sp>
      <p:sp>
        <p:nvSpPr>
          <p:cNvPr id="11" name="image card"/>
          <p:cNvSpPr/>
          <p:nvPr/>
        </p:nvSpPr>
        <p:spPr>
          <a:xfrm>
            <a:off x="4343400" y="1417320"/>
            <a:ext cx="3520440" cy="4206240"/>
          </a:xfrm>
          <a:prstGeom prst="roundRect">
            <a:avLst>
              <a:gd name="adj" fmla="val 3896"/>
            </a:avLst>
          </a:prstGeom>
          <a:solidFill>
            <a:schemeClr val="bg1"/>
          </a:solidFill>
          <a:ln w="12700">
            <a:solidFill>
              <a:srgbClr val="E3E7ED"/>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663440" y="1737360"/>
            <a:ext cx="914400" cy="914400"/>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4892040" y="1965960"/>
            <a:ext cx="457200" cy="457200"/>
          </a:xfrm>
          <a:prstGeom prst="rect">
            <a:avLst/>
          </a:prstGeom>
        </p:spPr>
      </p:pic>
      <p:sp>
        <p:nvSpPr>
          <p:cNvPr id="14" name="Text 10"/>
          <p:cNvSpPr txBox="1"/>
          <p:nvPr/>
        </p:nvSpPr>
        <p:spPr>
          <a:xfrm>
            <a:off x="4663440" y="2834640"/>
            <a:ext cx="2926080" cy="77724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Edited or generated image</a:t>
            </a:r>
            <a:endParaRPr lang="en-US" sz="2200" dirty="0"/>
          </a:p>
        </p:txBody>
      </p:sp>
      <p:sp>
        <p:nvSpPr>
          <p:cNvPr id="15" name="Text 11"/>
          <p:cNvSpPr txBox="1"/>
          <p:nvPr/>
        </p:nvSpPr>
        <p:spPr>
          <a:xfrm>
            <a:off x="4663440" y="3611880"/>
            <a:ext cx="2926080" cy="640080"/>
          </a:xfrm>
          <a:prstGeom prst="rect">
            <a:avLst/>
          </a:prstGeom>
          <a:noFill/>
          <a:ln/>
        </p:spPr>
        <p:txBody>
          <a:bodyPr wrap="square" lIns="0" tIns="0" rIns="0" bIns="0" rtlCol="0" anchor="t"/>
          <a:lstStyle/>
          <a:p>
            <a:pPr indent="0" marL="0">
              <a:buNone/>
            </a:pPr>
            <a:r>
              <a:rPr lang="en-US" sz="1500" dirty="0">
                <a:solidFill>
                  <a:schemeClr val="tx1"/>
                </a:solidFill>
              </a:rPr>
              <a:t>The picture itself is fake</a:t>
            </a:r>
            <a:endParaRPr lang="en-US" sz="1500" dirty="0"/>
          </a:p>
        </p:txBody>
      </p:sp>
      <p:sp>
        <p:nvSpPr>
          <p:cNvPr id="16" name="Text 12"/>
          <p:cNvSpPr txBox="1"/>
          <p:nvPr/>
        </p:nvSpPr>
        <p:spPr>
          <a:xfrm>
            <a:off x="4663440" y="4343400"/>
            <a:ext cx="2926080" cy="594360"/>
          </a:xfrm>
          <a:prstGeom prst="rect">
            <a:avLst/>
          </a:prstGeom>
          <a:noFill/>
          <a:ln/>
        </p:spPr>
        <p:txBody>
          <a:bodyPr wrap="square" lIns="0" tIns="0" rIns="0" bIns="0" rtlCol="0" anchor="ctr"/>
          <a:lstStyle/>
          <a:p>
            <a:pPr indent="0" marL="0">
              <a:buNone/>
            </a:pPr>
            <a:r>
              <a:rPr lang="en-US" sz="1400" b="1" dirty="0">
                <a:solidFill>
                  <a:schemeClr val="accent2"/>
                </a:solidFill>
              </a:rPr>
              <a:t>Image track</a:t>
            </a:r>
            <a:endParaRPr lang="en-US" sz="1400" dirty="0"/>
          </a:p>
          <a:p>
            <a:pPr indent="0" marL="0">
              <a:buNone/>
            </a:pPr>
            <a:r>
              <a:rPr lang="en-US" sz="1400" dirty="0">
                <a:solidFill>
                  <a:schemeClr val="tx1"/>
                </a:solidFill>
              </a:rPr>
              <a:t>Ananya</a:t>
            </a:r>
            <a:endParaRPr lang="en-US" sz="1400" dirty="0"/>
          </a:p>
        </p:txBody>
      </p:sp>
      <p:sp>
        <p:nvSpPr>
          <p:cNvPr id="17" name="Shape 13"/>
          <p:cNvSpPr/>
          <p:nvPr/>
        </p:nvSpPr>
        <p:spPr>
          <a:xfrm>
            <a:off x="4663440" y="5029200"/>
            <a:ext cx="2880360" cy="384048"/>
          </a:xfrm>
          <a:prstGeom prst="roundRect">
            <a:avLst>
              <a:gd name="adj" fmla="val 50000"/>
            </a:avLst>
          </a:prstGeom>
          <a:solidFill>
            <a:schemeClr val="bg2"/>
          </a:solidFill>
          <a:ln/>
        </p:spPr>
      </p:sp>
      <p:sp>
        <p:nvSpPr>
          <p:cNvPr id="18" name="Text 14"/>
          <p:cNvSpPr txBox="1"/>
          <p:nvPr/>
        </p:nvSpPr>
        <p:spPr>
          <a:xfrm>
            <a:off x="4754880" y="5029200"/>
            <a:ext cx="2697480" cy="384048"/>
          </a:xfrm>
          <a:prstGeom prst="rect">
            <a:avLst/>
          </a:prstGeom>
          <a:noFill/>
          <a:ln/>
        </p:spPr>
        <p:txBody>
          <a:bodyPr wrap="square" lIns="0" tIns="0" rIns="0" bIns="0" rtlCol="0" anchor="ctr">
            <a:normAutofit/>
          </a:bodyPr>
          <a:lstStyle/>
          <a:p>
            <a:pPr algn="ctr" indent="0" marL="0">
              <a:buNone/>
            </a:pPr>
            <a:r>
              <a:rPr lang="en-US" sz="1200" dirty="0">
                <a:solidFill>
                  <a:schemeClr val="tx1"/>
                </a:solidFill>
              </a:rPr>
              <a:t>CIFAKE</a:t>
            </a:r>
            <a:endParaRPr lang="en-US" sz="1200" dirty="0"/>
          </a:p>
        </p:txBody>
      </p:sp>
      <p:sp>
        <p:nvSpPr>
          <p:cNvPr id="19" name="comb card"/>
          <p:cNvSpPr/>
          <p:nvPr/>
        </p:nvSpPr>
        <p:spPr>
          <a:xfrm>
            <a:off x="8138160" y="1417320"/>
            <a:ext cx="3520440" cy="4206240"/>
          </a:xfrm>
          <a:prstGeom prst="roundRect">
            <a:avLst>
              <a:gd name="adj" fmla="val 3896"/>
            </a:avLst>
          </a:prstGeom>
          <a:solidFill>
            <a:schemeClr val="bg1"/>
          </a:solidFill>
          <a:ln w="12700">
            <a:solidFill>
              <a:srgbClr val="E3E7ED"/>
            </a:solidFill>
            <a:prstDash val="solid"/>
          </a:ln>
          <a:effectLst>
            <a:outerShdw sx="100000" sy="100000" kx="0" ky="0" algn="bl" rotWithShape="0" blurRad="76200" dist="25400" dir="5400000">
              <a:srgbClr val="000000">
                <a:alpha val="12000"/>
              </a:srgbClr>
            </a:outerShdw>
          </a:effectLst>
        </p:spPr>
      </p:sp>
      <p:sp>
        <p:nvSpPr>
          <p:cNvPr id="20" name="Shape 16"/>
          <p:cNvSpPr/>
          <p:nvPr/>
        </p:nvSpPr>
        <p:spPr>
          <a:xfrm>
            <a:off x="8458200" y="1737360"/>
            <a:ext cx="914400" cy="914400"/>
          </a:xfrm>
          <a:prstGeom prst="ellipse">
            <a:avLst/>
          </a:prstGeom>
          <a:solidFill>
            <a:schemeClr val="accent3"/>
          </a:solidFill>
          <a:ln/>
        </p:spPr>
      </p:sp>
      <p:pic>
        <p:nvPicPr>
          <p:cNvPr id="21" name="Image 2" descr="preencoded.png">    </p:cNvPr>
          <p:cNvPicPr>
            <a:picLocks noChangeAspect="1"/>
          </p:cNvPicPr>
          <p:nvPr/>
        </p:nvPicPr>
        <p:blipFill>
          <a:blip r:embed="rId3"/>
          <a:stretch>
            <a:fillRect/>
          </a:stretch>
        </p:blipFill>
        <p:spPr>
          <a:xfrm>
            <a:off x="8686800" y="1965960"/>
            <a:ext cx="457200" cy="457200"/>
          </a:xfrm>
          <a:prstGeom prst="rect">
            <a:avLst/>
          </a:prstGeom>
        </p:spPr>
      </p:pic>
      <p:sp>
        <p:nvSpPr>
          <p:cNvPr id="22" name="Text 17"/>
          <p:cNvSpPr txBox="1"/>
          <p:nvPr/>
        </p:nvSpPr>
        <p:spPr>
          <a:xfrm>
            <a:off x="8458200" y="2834640"/>
            <a:ext cx="2926080" cy="77724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Real image, wrong caption</a:t>
            </a:r>
            <a:endParaRPr lang="en-US" sz="2200" dirty="0"/>
          </a:p>
        </p:txBody>
      </p:sp>
      <p:sp>
        <p:nvSpPr>
          <p:cNvPr id="23" name="Text 18"/>
          <p:cNvSpPr txBox="1"/>
          <p:nvPr/>
        </p:nvSpPr>
        <p:spPr>
          <a:xfrm>
            <a:off x="8458200" y="3611880"/>
            <a:ext cx="2926080" cy="640080"/>
          </a:xfrm>
          <a:prstGeom prst="rect">
            <a:avLst/>
          </a:prstGeom>
          <a:noFill/>
          <a:ln/>
        </p:spPr>
        <p:txBody>
          <a:bodyPr wrap="square" lIns="0" tIns="0" rIns="0" bIns="0" rtlCol="0" anchor="t"/>
          <a:lstStyle/>
          <a:p>
            <a:pPr indent="0" marL="0">
              <a:buNone/>
            </a:pPr>
            <a:r>
              <a:rPr lang="en-US" sz="1500" dirty="0">
                <a:solidFill>
                  <a:schemeClr val="tx1"/>
                </a:solidFill>
              </a:rPr>
              <a:t>Both are real; the pairing misleads</a:t>
            </a:r>
            <a:endParaRPr lang="en-US" sz="1500" dirty="0"/>
          </a:p>
        </p:txBody>
      </p:sp>
      <p:sp>
        <p:nvSpPr>
          <p:cNvPr id="24" name="Text 19"/>
          <p:cNvSpPr txBox="1"/>
          <p:nvPr/>
        </p:nvSpPr>
        <p:spPr>
          <a:xfrm>
            <a:off x="8458200" y="4343400"/>
            <a:ext cx="2926080" cy="594360"/>
          </a:xfrm>
          <a:prstGeom prst="rect">
            <a:avLst/>
          </a:prstGeom>
          <a:noFill/>
          <a:ln/>
        </p:spPr>
        <p:txBody>
          <a:bodyPr wrap="square" lIns="0" tIns="0" rIns="0" bIns="0" rtlCol="0" anchor="ctr"/>
          <a:lstStyle/>
          <a:p>
            <a:pPr indent="0" marL="0">
              <a:buNone/>
            </a:pPr>
            <a:r>
              <a:rPr lang="en-US" sz="1400" b="1" dirty="0">
                <a:solidFill>
                  <a:schemeClr val="accent3"/>
                </a:solidFill>
              </a:rPr>
              <a:t>Combined track</a:t>
            </a:r>
            <a:endParaRPr lang="en-US" sz="1400" dirty="0"/>
          </a:p>
          <a:p>
            <a:pPr indent="0" marL="0">
              <a:buNone/>
            </a:pPr>
            <a:r>
              <a:rPr lang="en-US" sz="1400" dirty="0">
                <a:solidFill>
                  <a:schemeClr val="tx1"/>
                </a:solidFill>
              </a:rPr>
              <a:t>Rafiul Haider</a:t>
            </a:r>
            <a:endParaRPr lang="en-US" sz="1400" dirty="0"/>
          </a:p>
        </p:txBody>
      </p:sp>
      <p:sp>
        <p:nvSpPr>
          <p:cNvPr id="25" name="Shape 20"/>
          <p:cNvSpPr/>
          <p:nvPr/>
        </p:nvSpPr>
        <p:spPr>
          <a:xfrm>
            <a:off x="8458200" y="5029200"/>
            <a:ext cx="2880360" cy="384048"/>
          </a:xfrm>
          <a:prstGeom prst="roundRect">
            <a:avLst>
              <a:gd name="adj" fmla="val 50000"/>
            </a:avLst>
          </a:prstGeom>
          <a:solidFill>
            <a:schemeClr val="bg2"/>
          </a:solidFill>
          <a:ln/>
        </p:spPr>
      </p:sp>
      <p:sp>
        <p:nvSpPr>
          <p:cNvPr id="26" name="Text 21"/>
          <p:cNvSpPr txBox="1"/>
          <p:nvPr/>
        </p:nvSpPr>
        <p:spPr>
          <a:xfrm>
            <a:off x="8549640" y="5029200"/>
            <a:ext cx="2697480" cy="384048"/>
          </a:xfrm>
          <a:prstGeom prst="rect">
            <a:avLst/>
          </a:prstGeom>
          <a:noFill/>
          <a:ln/>
        </p:spPr>
        <p:txBody>
          <a:bodyPr wrap="square" lIns="0" tIns="0" rIns="0" bIns="0" rtlCol="0" anchor="ctr">
            <a:normAutofit/>
          </a:bodyPr>
          <a:lstStyle/>
          <a:p>
            <a:pPr algn="ctr" indent="0" marL="0">
              <a:buNone/>
            </a:pPr>
            <a:r>
              <a:rPr lang="en-US" sz="1200" dirty="0">
                <a:solidFill>
                  <a:schemeClr val="tx1"/>
                </a:solidFill>
              </a:rPr>
              <a:t>MMFakeBench · VERITE · NewsCLIPpings</a:t>
            </a:r>
            <a:endParaRPr lang="en-US" sz="1200" dirty="0"/>
          </a:p>
        </p:txBody>
      </p:sp>
      <p:sp>
        <p:nvSpPr>
          <p:cNvPr id="27" name="Text 22"/>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300" i="1" dirty="0">
                <a:solidFill>
                  <a:schemeClr val="accent4"/>
                </a:solidFill>
              </a:rPr>
              <a:t>Each track has its own dataset and task, so scores are read within a track, never across tracks.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How we work, in every track</a:t>
            </a:r>
            <a:endParaRPr lang="en-US" sz="3200" dirty="0"/>
          </a:p>
        </p:txBody>
      </p:sp>
      <p:sp>
        <p:nvSpPr>
          <p:cNvPr id="3" name="Shape 1"/>
          <p:cNvSpPr/>
          <p:nvPr/>
        </p:nvSpPr>
        <p:spPr>
          <a:xfrm>
            <a:off x="548640" y="1463040"/>
            <a:ext cx="5394960" cy="1920240"/>
          </a:xfrm>
          <a:prstGeom prst="roundRect">
            <a:avLst>
              <a:gd name="adj" fmla="val 7143"/>
            </a:avLst>
          </a:prstGeom>
          <a:solidFill>
            <a:schemeClr val="bg2"/>
          </a:solidFill>
          <a:ln/>
        </p:spPr>
      </p:sp>
      <p:sp>
        <p:nvSpPr>
          <p:cNvPr id="4" name="Shape 2"/>
          <p:cNvSpPr/>
          <p:nvPr/>
        </p:nvSpPr>
        <p:spPr>
          <a:xfrm>
            <a:off x="868680" y="1965960"/>
            <a:ext cx="914400" cy="914400"/>
          </a:xfrm>
          <a:prstGeom prst="ellipse">
            <a:avLst/>
          </a:prstGeom>
          <a:solidFill>
            <a:schemeClr val="bg1"/>
          </a:solidFill>
          <a:ln/>
        </p:spPr>
      </p:sp>
      <p:pic>
        <p:nvPicPr>
          <p:cNvPr id="5" name="Image 0" descr="preencoded.png">    </p:cNvPr>
          <p:cNvPicPr>
            <a:picLocks noChangeAspect="1"/>
          </p:cNvPicPr>
          <p:nvPr/>
        </p:nvPicPr>
        <p:blipFill>
          <a:blip r:embed="rId1"/>
          <a:stretch>
            <a:fillRect/>
          </a:stretch>
        </p:blipFill>
        <p:spPr>
          <a:xfrm>
            <a:off x="1097280" y="2194560"/>
            <a:ext cx="457200" cy="457200"/>
          </a:xfrm>
          <a:prstGeom prst="rect">
            <a:avLst/>
          </a:prstGeom>
        </p:spPr>
      </p:pic>
      <p:sp>
        <p:nvSpPr>
          <p:cNvPr id="6" name="Text 3"/>
          <p:cNvSpPr txBox="1"/>
          <p:nvPr/>
        </p:nvSpPr>
        <p:spPr>
          <a:xfrm>
            <a:off x="2057400" y="1874520"/>
            <a:ext cx="3657600"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Clean the data first</a:t>
            </a:r>
            <a:endParaRPr lang="en-US" sz="2200" dirty="0"/>
          </a:p>
        </p:txBody>
      </p:sp>
      <p:sp>
        <p:nvSpPr>
          <p:cNvPr id="7" name="Text 4"/>
          <p:cNvSpPr txBox="1"/>
          <p:nvPr/>
        </p:nvSpPr>
        <p:spPr>
          <a:xfrm>
            <a:off x="2057400" y="2423160"/>
            <a:ext cx="3657600" cy="548640"/>
          </a:xfrm>
          <a:prstGeom prst="rect">
            <a:avLst/>
          </a:prstGeom>
          <a:noFill/>
          <a:ln/>
        </p:spPr>
        <p:txBody>
          <a:bodyPr wrap="square" lIns="0" tIns="0" rIns="0" bIns="0" rtlCol="0" anchor="t"/>
          <a:lstStyle/>
          <a:p>
            <a:pPr indent="0" marL="0">
              <a:buNone/>
            </a:pPr>
            <a:r>
              <a:rPr lang="en-US" sz="1600" dirty="0">
                <a:solidFill>
                  <a:schemeClr val="tx1"/>
                </a:solidFill>
              </a:rPr>
              <a:t>Remove duplicates and leaks before any test</a:t>
            </a:r>
            <a:endParaRPr lang="en-US" sz="1600" dirty="0"/>
          </a:p>
        </p:txBody>
      </p:sp>
      <p:sp>
        <p:nvSpPr>
          <p:cNvPr id="8" name="Shape 5"/>
          <p:cNvSpPr/>
          <p:nvPr/>
        </p:nvSpPr>
        <p:spPr>
          <a:xfrm>
            <a:off x="6172200" y="1463040"/>
            <a:ext cx="5394960" cy="1920240"/>
          </a:xfrm>
          <a:prstGeom prst="roundRect">
            <a:avLst>
              <a:gd name="adj" fmla="val 7143"/>
            </a:avLst>
          </a:prstGeom>
          <a:solidFill>
            <a:schemeClr val="bg2"/>
          </a:solidFill>
          <a:ln/>
        </p:spPr>
      </p:sp>
      <p:sp>
        <p:nvSpPr>
          <p:cNvPr id="9" name="Shape 6"/>
          <p:cNvSpPr/>
          <p:nvPr/>
        </p:nvSpPr>
        <p:spPr>
          <a:xfrm>
            <a:off x="6492240" y="1965960"/>
            <a:ext cx="914400" cy="914400"/>
          </a:xfrm>
          <a:prstGeom prst="ellipse">
            <a:avLst/>
          </a:prstGeom>
          <a:solidFill>
            <a:schemeClr val="bg1"/>
          </a:solidFill>
          <a:ln/>
        </p:spPr>
      </p:sp>
      <p:pic>
        <p:nvPicPr>
          <p:cNvPr id="10" name="Image 1" descr="preencoded.png">    </p:cNvPr>
          <p:cNvPicPr>
            <a:picLocks noChangeAspect="1"/>
          </p:cNvPicPr>
          <p:nvPr/>
        </p:nvPicPr>
        <p:blipFill>
          <a:blip r:embed="rId2"/>
          <a:stretch>
            <a:fillRect/>
          </a:stretch>
        </p:blipFill>
        <p:spPr>
          <a:xfrm>
            <a:off x="6720840" y="2194560"/>
            <a:ext cx="457200" cy="457200"/>
          </a:xfrm>
          <a:prstGeom prst="rect">
            <a:avLst/>
          </a:prstGeom>
        </p:spPr>
      </p:pic>
      <p:sp>
        <p:nvSpPr>
          <p:cNvPr id="11" name="Text 7"/>
          <p:cNvSpPr txBox="1"/>
          <p:nvPr/>
        </p:nvSpPr>
        <p:spPr>
          <a:xfrm>
            <a:off x="7680960" y="1874520"/>
            <a:ext cx="3657600"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Start from a floor</a:t>
            </a:r>
            <a:endParaRPr lang="en-US" sz="2200" dirty="0"/>
          </a:p>
        </p:txBody>
      </p:sp>
      <p:sp>
        <p:nvSpPr>
          <p:cNvPr id="12" name="Text 8"/>
          <p:cNvSpPr txBox="1"/>
          <p:nvPr/>
        </p:nvSpPr>
        <p:spPr>
          <a:xfrm>
            <a:off x="7680960" y="2423160"/>
            <a:ext cx="3657600" cy="548640"/>
          </a:xfrm>
          <a:prstGeom prst="rect">
            <a:avLst/>
          </a:prstGeom>
          <a:noFill/>
          <a:ln/>
        </p:spPr>
        <p:txBody>
          <a:bodyPr wrap="square" lIns="0" tIns="0" rIns="0" bIns="0" rtlCol="0" anchor="t"/>
          <a:lstStyle/>
          <a:p>
            <a:pPr indent="0" marL="0">
              <a:buNone/>
            </a:pPr>
            <a:r>
              <a:rPr lang="en-US" sz="1600" dirty="0">
                <a:solidFill>
                  <a:schemeClr val="tx1"/>
                </a:solidFill>
              </a:rPr>
              <a:t>Know what simple guessing scores</a:t>
            </a:r>
            <a:endParaRPr lang="en-US" sz="1600" dirty="0"/>
          </a:p>
        </p:txBody>
      </p:sp>
      <p:sp>
        <p:nvSpPr>
          <p:cNvPr id="13" name="Shape 9"/>
          <p:cNvSpPr/>
          <p:nvPr/>
        </p:nvSpPr>
        <p:spPr>
          <a:xfrm>
            <a:off x="548640" y="3703320"/>
            <a:ext cx="5394960" cy="1920240"/>
          </a:xfrm>
          <a:prstGeom prst="roundRect">
            <a:avLst>
              <a:gd name="adj" fmla="val 7143"/>
            </a:avLst>
          </a:prstGeom>
          <a:solidFill>
            <a:schemeClr val="bg2"/>
          </a:solidFill>
          <a:ln/>
        </p:spPr>
      </p:sp>
      <p:sp>
        <p:nvSpPr>
          <p:cNvPr id="14" name="Shape 10"/>
          <p:cNvSpPr/>
          <p:nvPr/>
        </p:nvSpPr>
        <p:spPr>
          <a:xfrm>
            <a:off x="868680" y="4206240"/>
            <a:ext cx="914400" cy="914400"/>
          </a:xfrm>
          <a:prstGeom prst="ellipse">
            <a:avLst/>
          </a:prstGeom>
          <a:solidFill>
            <a:schemeClr val="bg1"/>
          </a:solidFill>
          <a:ln/>
        </p:spPr>
      </p:sp>
      <p:pic>
        <p:nvPicPr>
          <p:cNvPr id="15" name="Image 2" descr="preencoded.png">    </p:cNvPr>
          <p:cNvPicPr>
            <a:picLocks noChangeAspect="1"/>
          </p:cNvPicPr>
          <p:nvPr/>
        </p:nvPicPr>
        <p:blipFill>
          <a:blip r:embed="rId3"/>
          <a:stretch>
            <a:fillRect/>
          </a:stretch>
        </p:blipFill>
        <p:spPr>
          <a:xfrm>
            <a:off x="1097280" y="4434840"/>
            <a:ext cx="457200" cy="457200"/>
          </a:xfrm>
          <a:prstGeom prst="rect">
            <a:avLst/>
          </a:prstGeom>
        </p:spPr>
      </p:pic>
      <p:sp>
        <p:nvSpPr>
          <p:cNvPr id="16" name="Text 11"/>
          <p:cNvSpPr txBox="1"/>
          <p:nvPr/>
        </p:nvSpPr>
        <p:spPr>
          <a:xfrm>
            <a:off x="2057400" y="4114800"/>
            <a:ext cx="3657600"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Measure uncertainty</a:t>
            </a:r>
            <a:endParaRPr lang="en-US" sz="2200" dirty="0"/>
          </a:p>
        </p:txBody>
      </p:sp>
      <p:sp>
        <p:nvSpPr>
          <p:cNvPr id="17" name="Text 12"/>
          <p:cNvSpPr txBox="1"/>
          <p:nvPr/>
        </p:nvSpPr>
        <p:spPr>
          <a:xfrm>
            <a:off x="2057400" y="4663440"/>
            <a:ext cx="3657600" cy="548640"/>
          </a:xfrm>
          <a:prstGeom prst="rect">
            <a:avLst/>
          </a:prstGeom>
          <a:noFill/>
          <a:ln/>
        </p:spPr>
        <p:txBody>
          <a:bodyPr wrap="square" lIns="0" tIns="0" rIns="0" bIns="0" rtlCol="0" anchor="t"/>
          <a:lstStyle/>
          <a:p>
            <a:pPr indent="0" marL="0">
              <a:buNone/>
            </a:pPr>
            <a:r>
              <a:rPr lang="en-US" sz="1600" dirty="0">
                <a:solidFill>
                  <a:schemeClr val="tx1"/>
                </a:solidFill>
              </a:rPr>
              <a:t>95% ranges, not single numbers</a:t>
            </a:r>
            <a:endParaRPr lang="en-US" sz="1600" dirty="0"/>
          </a:p>
        </p:txBody>
      </p:sp>
      <p:sp>
        <p:nvSpPr>
          <p:cNvPr id="18" name="Shape 13"/>
          <p:cNvSpPr/>
          <p:nvPr/>
        </p:nvSpPr>
        <p:spPr>
          <a:xfrm>
            <a:off x="6172200" y="3703320"/>
            <a:ext cx="5394960" cy="1920240"/>
          </a:xfrm>
          <a:prstGeom prst="roundRect">
            <a:avLst>
              <a:gd name="adj" fmla="val 7143"/>
            </a:avLst>
          </a:prstGeom>
          <a:solidFill>
            <a:schemeClr val="bg2"/>
          </a:solidFill>
          <a:ln/>
        </p:spPr>
      </p:sp>
      <p:sp>
        <p:nvSpPr>
          <p:cNvPr id="19" name="Shape 14"/>
          <p:cNvSpPr/>
          <p:nvPr/>
        </p:nvSpPr>
        <p:spPr>
          <a:xfrm>
            <a:off x="6492240" y="4206240"/>
            <a:ext cx="914400" cy="914400"/>
          </a:xfrm>
          <a:prstGeom prst="ellipse">
            <a:avLst/>
          </a:prstGeom>
          <a:solidFill>
            <a:schemeClr val="bg1"/>
          </a:solidFill>
          <a:ln/>
        </p:spPr>
      </p:sp>
      <p:pic>
        <p:nvPicPr>
          <p:cNvPr id="20" name="Image 3" descr="preencoded.png">    </p:cNvPr>
          <p:cNvPicPr>
            <a:picLocks noChangeAspect="1"/>
          </p:cNvPicPr>
          <p:nvPr/>
        </p:nvPicPr>
        <p:blipFill>
          <a:blip r:embed="rId4"/>
          <a:stretch>
            <a:fillRect/>
          </a:stretch>
        </p:blipFill>
        <p:spPr>
          <a:xfrm>
            <a:off x="6720840" y="4434840"/>
            <a:ext cx="457200" cy="457200"/>
          </a:xfrm>
          <a:prstGeom prst="rect">
            <a:avLst/>
          </a:prstGeom>
        </p:spPr>
      </p:pic>
      <p:sp>
        <p:nvSpPr>
          <p:cNvPr id="21" name="Text 15"/>
          <p:cNvSpPr txBox="1"/>
          <p:nvPr/>
        </p:nvSpPr>
        <p:spPr>
          <a:xfrm>
            <a:off x="7680960" y="4114800"/>
            <a:ext cx="3657600"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Say what it can't do</a:t>
            </a:r>
            <a:endParaRPr lang="en-US" sz="2200" dirty="0"/>
          </a:p>
        </p:txBody>
      </p:sp>
      <p:sp>
        <p:nvSpPr>
          <p:cNvPr id="22" name="Text 16"/>
          <p:cNvSpPr txBox="1"/>
          <p:nvPr/>
        </p:nvSpPr>
        <p:spPr>
          <a:xfrm>
            <a:off x="7680960" y="4663440"/>
            <a:ext cx="3657600" cy="548640"/>
          </a:xfrm>
          <a:prstGeom prst="rect">
            <a:avLst/>
          </a:prstGeom>
          <a:noFill/>
          <a:ln/>
        </p:spPr>
        <p:txBody>
          <a:bodyPr wrap="square" lIns="0" tIns="0" rIns="0" bIns="0" rtlCol="0" anchor="t"/>
          <a:lstStyle/>
          <a:p>
            <a:pPr indent="0" marL="0">
              <a:buNone/>
            </a:pPr>
            <a:r>
              <a:rPr lang="en-US" sz="1600" dirty="0">
                <a:solidFill>
                  <a:schemeClr val="tx1"/>
                </a:solidFill>
              </a:rPr>
              <a:t>Limits travel with every result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Real and fake articles leave different clues</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Text track · Harika Etikela</a:t>
            </a:r>
            <a:endParaRPr lang="en-US" sz="1100" dirty="0"/>
          </a:p>
        </p:txBody>
      </p:sp>
      <p:sp>
        <p:nvSpPr>
          <p:cNvPr id="6" name="Text 3"/>
          <p:cNvSpPr txBox="1"/>
          <p:nvPr/>
        </p:nvSpPr>
        <p:spPr>
          <a:xfrm>
            <a:off x="548640" y="1417320"/>
            <a:ext cx="274320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63,678</a:t>
            </a:r>
            <a:endParaRPr lang="en-US" sz="4000" dirty="0"/>
          </a:p>
        </p:txBody>
      </p:sp>
      <p:sp>
        <p:nvSpPr>
          <p:cNvPr id="7" name="Text 4"/>
          <p:cNvSpPr txBox="1"/>
          <p:nvPr/>
        </p:nvSpPr>
        <p:spPr>
          <a:xfrm>
            <a:off x="548640" y="2148840"/>
            <a:ext cx="2743200" cy="502920"/>
          </a:xfrm>
          <a:prstGeom prst="rect">
            <a:avLst/>
          </a:prstGeom>
          <a:noFill/>
          <a:ln/>
        </p:spPr>
        <p:txBody>
          <a:bodyPr wrap="square" lIns="0" tIns="0" rIns="0" bIns="0" rtlCol="0" anchor="t"/>
          <a:lstStyle/>
          <a:p>
            <a:pPr indent="0" marL="0">
              <a:buNone/>
            </a:pPr>
            <a:r>
              <a:rPr lang="en-US" sz="1400" dirty="0">
                <a:solidFill>
                  <a:schemeClr val="tx1"/>
                </a:solidFill>
              </a:rPr>
              <a:t>articles after removing 8,456 duplicates</a:t>
            </a:r>
            <a:endParaRPr lang="en-US" sz="1400" dirty="0"/>
          </a:p>
        </p:txBody>
      </p:sp>
      <p:sp>
        <p:nvSpPr>
          <p:cNvPr id="8" name="Text 5"/>
          <p:cNvSpPr txBox="1"/>
          <p:nvPr/>
        </p:nvSpPr>
        <p:spPr>
          <a:xfrm>
            <a:off x="548640" y="2880360"/>
            <a:ext cx="2743200" cy="7315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70 · 15 · 15</a:t>
            </a:r>
            <a:endParaRPr lang="en-US" sz="3200" dirty="0"/>
          </a:p>
        </p:txBody>
      </p:sp>
      <p:sp>
        <p:nvSpPr>
          <p:cNvPr id="9" name="Text 6"/>
          <p:cNvSpPr txBox="1"/>
          <p:nvPr/>
        </p:nvSpPr>
        <p:spPr>
          <a:xfrm>
            <a:off x="548640" y="3611880"/>
            <a:ext cx="2743200" cy="502920"/>
          </a:xfrm>
          <a:prstGeom prst="rect">
            <a:avLst/>
          </a:prstGeom>
          <a:noFill/>
          <a:ln/>
        </p:spPr>
        <p:txBody>
          <a:bodyPr wrap="square" lIns="0" tIns="0" rIns="0" bIns="0" rtlCol="0" anchor="t"/>
          <a:lstStyle/>
          <a:p>
            <a:pPr indent="0" marL="0">
              <a:buNone/>
            </a:pPr>
            <a:r>
              <a:rPr lang="en-US" sz="1400" dirty="0">
                <a:solidFill>
                  <a:schemeClr val="tx1"/>
                </a:solidFill>
              </a:rPr>
              <a:t>train · validation · test split</a:t>
            </a:r>
            <a:endParaRPr lang="en-US" sz="1400" dirty="0"/>
          </a:p>
        </p:txBody>
      </p:sp>
      <p:sp>
        <p:nvSpPr>
          <p:cNvPr id="10" name="Text 7"/>
          <p:cNvSpPr txBox="1"/>
          <p:nvPr/>
        </p:nvSpPr>
        <p:spPr>
          <a:xfrm>
            <a:off x="548640" y="4343400"/>
            <a:ext cx="2743200" cy="73152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54.6%</a:t>
            </a:r>
            <a:endParaRPr lang="en-US" sz="4000" dirty="0"/>
          </a:p>
        </p:txBody>
      </p:sp>
      <p:sp>
        <p:nvSpPr>
          <p:cNvPr id="11" name="Text 8"/>
          <p:cNvSpPr txBox="1"/>
          <p:nvPr/>
        </p:nvSpPr>
        <p:spPr>
          <a:xfrm>
            <a:off x="548640" y="5074920"/>
            <a:ext cx="2743200" cy="502920"/>
          </a:xfrm>
          <a:prstGeom prst="rect">
            <a:avLst/>
          </a:prstGeom>
          <a:noFill/>
          <a:ln/>
        </p:spPr>
        <p:txBody>
          <a:bodyPr wrap="square" lIns="0" tIns="0" rIns="0" bIns="0" rtlCol="0" anchor="t"/>
          <a:lstStyle/>
          <a:p>
            <a:pPr indent="0" marL="0">
              <a:buNone/>
            </a:pPr>
            <a:r>
              <a:rPr lang="en-US" sz="1400" dirty="0">
                <a:solidFill>
                  <a:schemeClr val="tx1"/>
                </a:solidFill>
              </a:rPr>
              <a:t>accuracy from always guessing "Real"</a:t>
            </a:r>
            <a:endParaRPr lang="en-US" sz="1400" dirty="0"/>
          </a:p>
        </p:txBody>
      </p:sp>
      <p:graphicFrame>
        <p:nvGraphicFramePr>
          <p:cNvPr id="12" name="Chart 0" descr=""/>
          <p:cNvGraphicFramePr/>
          <p:nvPr/>
        </p:nvGraphicFramePr>
        <p:xfrm>
          <a:off x="3566160" y="1325880"/>
          <a:ext cx="5394960" cy="4480560"/>
        </p:xfrm>
        <a:graphic xmlns:a="http://schemas.openxmlformats.org/drawingml/2006/main">
          <a:graphicData uri="http://schemas.openxmlformats.org/drawingml/2006/chart">
            <c:chart xmlns:c="http://schemas.openxmlformats.org/drawingml/2006/chart" r:id="rId2"/>
          </a:graphicData>
        </a:graphic>
      </p:graphicFrame>
      <p:sp>
        <p:nvSpPr>
          <p:cNvPr id="13" name="good to know card"/>
          <p:cNvSpPr/>
          <p:nvPr/>
        </p:nvSpPr>
        <p:spPr>
          <a:xfrm>
            <a:off x="9281160" y="1463040"/>
            <a:ext cx="2377440" cy="1737360"/>
          </a:xfrm>
          <a:prstGeom prst="roundRect">
            <a:avLst>
              <a:gd name="adj" fmla="val 6316"/>
            </a:avLst>
          </a:prstGeom>
          <a:solidFill>
            <a:schemeClr val="bg2"/>
          </a:solidFill>
          <a:ln/>
        </p:spPr>
      </p:sp>
      <p:pic>
        <p:nvPicPr>
          <p:cNvPr id="14" name="Image 1" descr="preencoded.png">    </p:cNvPr>
          <p:cNvPicPr>
            <a:picLocks noChangeAspect="1"/>
          </p:cNvPicPr>
          <p:nvPr/>
        </p:nvPicPr>
        <p:blipFill>
          <a:blip r:embed="rId3"/>
          <a:stretch>
            <a:fillRect/>
          </a:stretch>
        </p:blipFill>
        <p:spPr>
          <a:xfrm>
            <a:off x="9464040" y="1645920"/>
            <a:ext cx="237744" cy="237744"/>
          </a:xfrm>
          <a:prstGeom prst="rect">
            <a:avLst/>
          </a:prstGeom>
        </p:spPr>
      </p:pic>
      <p:sp>
        <p:nvSpPr>
          <p:cNvPr id="15" name="Text 10"/>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16" name="Text 11"/>
          <p:cNvSpPr txBox="1"/>
          <p:nvPr/>
        </p:nvSpPr>
        <p:spPr>
          <a:xfrm>
            <a:off x="9464040" y="1965960"/>
            <a:ext cx="2057400" cy="1097280"/>
          </a:xfrm>
          <a:prstGeom prst="rect">
            <a:avLst/>
          </a:prstGeom>
          <a:noFill/>
          <a:ln/>
        </p:spPr>
        <p:txBody>
          <a:bodyPr wrap="square" lIns="0" tIns="0" rIns="0" bIns="0" rtlCol="0" anchor="t"/>
          <a:lstStyle/>
          <a:p>
            <a:pPr indent="0" marL="0">
              <a:buNone/>
            </a:pPr>
            <a:r>
              <a:rPr lang="en-US" sz="1200" dirty="0">
                <a:solidFill>
                  <a:schemeClr val="tx1"/>
                </a:solidFill>
              </a:rPr>
              <a:t>Strong source and style cues mean a model can learn the outlet's style, not only the facts.</a:t>
            </a:r>
            <a:endParaRPr lang="en-US" sz="1200" dirty="0"/>
          </a:p>
        </p:txBody>
      </p:sp>
      <p:sp>
        <p:nvSpPr>
          <p:cNvPr id="17" name="Text 12"/>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Text track midterm results, Harika Etikela (WELFake training split).</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From simple to deep models</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Text track · Harika Etikela</a:t>
            </a:r>
            <a:endParaRPr lang="en-US" sz="1100" dirty="0"/>
          </a:p>
        </p:txBody>
      </p:sp>
      <p:graphicFrame>
        <p:nvGraphicFramePr>
          <p:cNvPr id="6" name="Chart 0" descr=""/>
          <p:cNvGraphicFramePr/>
          <p:nvPr/>
        </p:nvGraphicFramePr>
        <p:xfrm>
          <a:off x="548640" y="1325880"/>
          <a:ext cx="8412480" cy="4572000"/>
        </p:xfrm>
        <a:graphic xmlns:a="http://schemas.openxmlformats.org/drawingml/2006/main">
          <a:graphicData uri="http://schemas.openxmlformats.org/drawingml/2006/chart">
            <c:chart xmlns:c="http://schemas.openxmlformats.org/drawingml/2006/chart" r:id="rId2"/>
          </a:graphicData>
        </a:graphic>
      </p:graphicFrame>
      <p:sp>
        <p:nvSpPr>
          <p:cNvPr id="7" name="good to know card"/>
          <p:cNvSpPr/>
          <p:nvPr/>
        </p:nvSpPr>
        <p:spPr>
          <a:xfrm>
            <a:off x="9281160" y="1463040"/>
            <a:ext cx="2377440" cy="1920240"/>
          </a:xfrm>
          <a:prstGeom prst="roundRect">
            <a:avLst>
              <a:gd name="adj" fmla="val 5714"/>
            </a:avLst>
          </a:prstGeom>
          <a:solidFill>
            <a:schemeClr val="bg2"/>
          </a:solidFill>
          <a:ln/>
        </p:spPr>
      </p:sp>
      <p:pic>
        <p:nvPicPr>
          <p:cNvPr id="8" name="Image 1" descr="preencoded.png">    </p:cNvPr>
          <p:cNvPicPr>
            <a:picLocks noChangeAspect="1"/>
          </p:cNvPicPr>
          <p:nvPr/>
        </p:nvPicPr>
        <p:blipFill>
          <a:blip r:embed="rId3"/>
          <a:stretch>
            <a:fillRect/>
          </a:stretch>
        </p:blipFill>
        <p:spPr>
          <a:xfrm>
            <a:off x="9464040" y="1645920"/>
            <a:ext cx="237744" cy="237744"/>
          </a:xfrm>
          <a:prstGeom prst="rect">
            <a:avLst/>
          </a:prstGeom>
        </p:spPr>
      </p:pic>
      <p:sp>
        <p:nvSpPr>
          <p:cNvPr id="9" name="Text 4"/>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10" name="Text 5"/>
          <p:cNvSpPr txBox="1"/>
          <p:nvPr/>
        </p:nvSpPr>
        <p:spPr>
          <a:xfrm>
            <a:off x="9464040" y="1965960"/>
            <a:ext cx="2057400" cy="1280160"/>
          </a:xfrm>
          <a:prstGeom prst="rect">
            <a:avLst/>
          </a:prstGeom>
          <a:noFill/>
          <a:ln/>
        </p:spPr>
        <p:txBody>
          <a:bodyPr wrap="square" lIns="0" tIns="0" rIns="0" bIns="0" rtlCol="0" anchor="t"/>
          <a:lstStyle/>
          <a:p>
            <a:pPr indent="0" marL="0">
              <a:buNone/>
            </a:pPr>
            <a:r>
              <a:rPr lang="en-US" sz="1200" dirty="0">
                <a:solidFill>
                  <a:schemeClr val="tx1"/>
                </a:solidFill>
              </a:rPr>
              <a:t>DistilBERT is an early run: 5,000 training articles, one epoch. It does not yet show transformers are better.</a:t>
            </a:r>
            <a:endParaRPr lang="en-US" sz="1200" dirty="0"/>
          </a:p>
        </p:txBody>
      </p:sp>
      <p:sp>
        <p:nvSpPr>
          <p:cNvPr id="11" name="Text 6"/>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Text track midterm results, Harika Etikela. Axis starts at 50%.</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Words carry the signal, partly through style</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Text track · Harika Etikela</a:t>
            </a:r>
            <a:endParaRPr lang="en-US" sz="1100" dirty="0"/>
          </a:p>
        </p:txBody>
      </p:sp>
      <p:sp>
        <p:nvSpPr>
          <p:cNvPr id="6" name="Shape 3"/>
          <p:cNvSpPr/>
          <p:nvPr/>
        </p:nvSpPr>
        <p:spPr>
          <a:xfrm>
            <a:off x="548640" y="1463040"/>
            <a:ext cx="4206240" cy="3566160"/>
          </a:xfrm>
          <a:prstGeom prst="roundRect">
            <a:avLst>
              <a:gd name="adj" fmla="val 3846"/>
            </a:avLst>
          </a:prstGeom>
          <a:solidFill>
            <a:schemeClr val="bg2"/>
          </a:solidFill>
          <a:ln/>
        </p:spPr>
      </p:sp>
      <p:sp>
        <p:nvSpPr>
          <p:cNvPr id="7" name="Text 4"/>
          <p:cNvSpPr txBox="1"/>
          <p:nvPr/>
        </p:nvSpPr>
        <p:spPr>
          <a:xfrm>
            <a:off x="822960" y="1737360"/>
            <a:ext cx="182880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97.4%</a:t>
            </a:r>
            <a:endParaRPr lang="en-US" sz="4000" dirty="0"/>
          </a:p>
        </p:txBody>
      </p:sp>
      <p:pic>
        <p:nvPicPr>
          <p:cNvPr id="8" name="Image 1" descr="preencoded.png">    </p:cNvPr>
          <p:cNvPicPr>
            <a:picLocks noChangeAspect="1"/>
          </p:cNvPicPr>
          <p:nvPr/>
        </p:nvPicPr>
        <p:blipFill>
          <a:blip r:embed="rId2"/>
          <a:stretch>
            <a:fillRect/>
          </a:stretch>
        </p:blipFill>
        <p:spPr>
          <a:xfrm>
            <a:off x="2606040" y="1965960"/>
            <a:ext cx="411480" cy="411480"/>
          </a:xfrm>
          <a:prstGeom prst="rect">
            <a:avLst/>
          </a:prstGeom>
        </p:spPr>
      </p:pic>
      <p:sp>
        <p:nvSpPr>
          <p:cNvPr id="9" name="Text 5"/>
          <p:cNvSpPr txBox="1"/>
          <p:nvPr/>
        </p:nvSpPr>
        <p:spPr>
          <a:xfrm>
            <a:off x="3063240" y="1737360"/>
            <a:ext cx="1645920" cy="82296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96.2%</a:t>
            </a:r>
            <a:endParaRPr lang="en-US" sz="4000" dirty="0"/>
          </a:p>
        </p:txBody>
      </p:sp>
      <p:sp>
        <p:nvSpPr>
          <p:cNvPr id="10" name="Text 6"/>
          <p:cNvSpPr txBox="1"/>
          <p:nvPr/>
        </p:nvSpPr>
        <p:spPr>
          <a:xfrm>
            <a:off x="822960" y="2651760"/>
            <a:ext cx="3657600" cy="640080"/>
          </a:xfrm>
          <a:prstGeom prst="rect">
            <a:avLst/>
          </a:prstGeom>
          <a:noFill/>
          <a:ln/>
        </p:spPr>
        <p:txBody>
          <a:bodyPr wrap="square" lIns="0" tIns="0" rIns="0" bIns="0" rtlCol="0" anchor="ctr"/>
          <a:lstStyle/>
          <a:p>
            <a:pPr indent="0" marL="0">
              <a:buNone/>
            </a:pPr>
            <a:r>
              <a:rPr lang="en-US" sz="1500" dirty="0">
                <a:solidFill>
                  <a:schemeClr val="tx1"/>
                </a:solidFill>
              </a:rPr>
              <a:t>Linear SVM test accuracy with the word "reuters" removed</a:t>
            </a:r>
            <a:endParaRPr lang="en-US" sz="1500" dirty="0"/>
          </a:p>
        </p:txBody>
      </p:sp>
      <p:sp>
        <p:nvSpPr>
          <p:cNvPr id="11" name="Text 7"/>
          <p:cNvSpPr txBox="1"/>
          <p:nvPr/>
        </p:nvSpPr>
        <p:spPr>
          <a:xfrm>
            <a:off x="822960" y="3474720"/>
            <a:ext cx="3657600" cy="822960"/>
          </a:xfrm>
          <a:prstGeom prst="rect">
            <a:avLst/>
          </a:prstGeom>
          <a:noFill/>
          <a:ln/>
        </p:spPr>
        <p:txBody>
          <a:bodyPr wrap="square" lIns="0" tIns="0" rIns="0" bIns="0" rtlCol="0" anchor="ctr"/>
          <a:lstStyle/>
          <a:p>
            <a:pPr indent="0" marL="0">
              <a:buNone/>
            </a:pPr>
            <a:r>
              <a:rPr lang="en-US" sz="1600" b="1" dirty="0">
                <a:solidFill>
                  <a:schemeClr val="tx1"/>
                </a:solidFill>
              </a:rPr>
              <a:t>About 1.3 points come from a single source word.</a:t>
            </a:r>
            <a:endParaRPr lang="en-US" sz="1600" dirty="0"/>
          </a:p>
        </p:txBody>
      </p:sp>
      <p:sp>
        <p:nvSpPr>
          <p:cNvPr id="12" name="Text 8"/>
          <p:cNvSpPr txBox="1"/>
          <p:nvPr/>
        </p:nvSpPr>
        <p:spPr>
          <a:xfrm>
            <a:off x="5120640" y="1463040"/>
            <a:ext cx="384048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Next for the text track</a:t>
            </a:r>
            <a:endParaRPr lang="en-US" sz="1800" dirty="0"/>
          </a:p>
        </p:txBody>
      </p:sp>
      <p:sp>
        <p:nvSpPr>
          <p:cNvPr id="13" name="Shape 9"/>
          <p:cNvSpPr/>
          <p:nvPr/>
        </p:nvSpPr>
        <p:spPr>
          <a:xfrm>
            <a:off x="5120640" y="2057400"/>
            <a:ext cx="685800" cy="685800"/>
          </a:xfrm>
          <a:prstGeom prst="ellipse">
            <a:avLst/>
          </a:prstGeom>
          <a:solidFill>
            <a:schemeClr val="accent1"/>
          </a:solidFill>
          <a:ln/>
        </p:spPr>
      </p:sp>
      <p:sp>
        <p:nvSpPr>
          <p:cNvPr id="14" name="Text 10"/>
          <p:cNvSpPr txBox="1"/>
          <p:nvPr/>
        </p:nvSpPr>
        <p:spPr>
          <a:xfrm>
            <a:off x="5120640" y="205740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5" name="Text 11"/>
          <p:cNvSpPr txBox="1"/>
          <p:nvPr/>
        </p:nvSpPr>
        <p:spPr>
          <a:xfrm>
            <a:off x="5989320" y="2011680"/>
            <a:ext cx="3017520" cy="777240"/>
          </a:xfrm>
          <a:prstGeom prst="rect">
            <a:avLst/>
          </a:prstGeom>
          <a:noFill/>
          <a:ln/>
        </p:spPr>
        <p:txBody>
          <a:bodyPr wrap="square" lIns="0" tIns="0" rIns="0" bIns="0" rtlCol="0" anchor="ctr"/>
          <a:lstStyle/>
          <a:p>
            <a:pPr indent="0" marL="0">
              <a:buNone/>
            </a:pPr>
            <a:r>
              <a:rPr lang="en-US" sz="1400" b="1" dirty="0">
                <a:solidFill>
                  <a:schemeClr val="tx1"/>
                </a:solidFill>
              </a:rPr>
              <a:t>Ensemble</a:t>
            </a:r>
            <a:endParaRPr lang="en-US" sz="1400" dirty="0"/>
          </a:p>
          <a:p>
            <a:pPr indent="0" marL="0">
              <a:buNone/>
            </a:pPr>
            <a:r>
              <a:rPr lang="en-US" sz="1400" dirty="0">
                <a:solidFill>
                  <a:schemeClr val="tx1"/>
                </a:solidFill>
              </a:rPr>
              <a:t>SVM + DistilBERT, soft voting</a:t>
            </a:r>
            <a:endParaRPr lang="en-US" sz="1400" dirty="0"/>
          </a:p>
        </p:txBody>
      </p:sp>
      <p:sp>
        <p:nvSpPr>
          <p:cNvPr id="16" name="Shape 12"/>
          <p:cNvSpPr/>
          <p:nvPr/>
        </p:nvSpPr>
        <p:spPr>
          <a:xfrm>
            <a:off x="5120640" y="3063240"/>
            <a:ext cx="685800" cy="685800"/>
          </a:xfrm>
          <a:prstGeom prst="ellipse">
            <a:avLst/>
          </a:prstGeom>
          <a:solidFill>
            <a:schemeClr val="accent1"/>
          </a:solidFill>
          <a:ln/>
        </p:spPr>
      </p:sp>
      <p:sp>
        <p:nvSpPr>
          <p:cNvPr id="17" name="Text 13"/>
          <p:cNvSpPr txBox="1"/>
          <p:nvPr/>
        </p:nvSpPr>
        <p:spPr>
          <a:xfrm>
            <a:off x="5120640" y="306324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8" name="Text 14"/>
          <p:cNvSpPr txBox="1"/>
          <p:nvPr/>
        </p:nvSpPr>
        <p:spPr>
          <a:xfrm>
            <a:off x="5989320" y="3017520"/>
            <a:ext cx="3017520" cy="777240"/>
          </a:xfrm>
          <a:prstGeom prst="rect">
            <a:avLst/>
          </a:prstGeom>
          <a:noFill/>
          <a:ln/>
        </p:spPr>
        <p:txBody>
          <a:bodyPr wrap="square" lIns="0" tIns="0" rIns="0" bIns="0" rtlCol="0" anchor="ctr"/>
          <a:lstStyle/>
          <a:p>
            <a:pPr indent="0" marL="0">
              <a:buNone/>
            </a:pPr>
            <a:r>
              <a:rPr lang="en-US" sz="1400" b="1" dirty="0">
                <a:solidFill>
                  <a:schemeClr val="tx1"/>
                </a:solidFill>
              </a:rPr>
              <a:t>Explanations</a:t>
            </a:r>
            <a:endParaRPr lang="en-US" sz="1400" dirty="0"/>
          </a:p>
          <a:p>
            <a:pPr indent="0" marL="0">
              <a:buNone/>
            </a:pPr>
            <a:r>
              <a:rPr lang="en-US" sz="1400" dirty="0">
                <a:solidFill>
                  <a:schemeClr val="tx1"/>
                </a:solidFill>
              </a:rPr>
              <a:t>LIME and SHAP feature comparison</a:t>
            </a:r>
            <a:endParaRPr lang="en-US" sz="1400" dirty="0"/>
          </a:p>
        </p:txBody>
      </p:sp>
      <p:sp>
        <p:nvSpPr>
          <p:cNvPr id="19" name="Shape 15"/>
          <p:cNvSpPr/>
          <p:nvPr/>
        </p:nvSpPr>
        <p:spPr>
          <a:xfrm>
            <a:off x="5120640" y="4069080"/>
            <a:ext cx="685800" cy="685800"/>
          </a:xfrm>
          <a:prstGeom prst="ellipse">
            <a:avLst/>
          </a:prstGeom>
          <a:solidFill>
            <a:schemeClr val="accent1"/>
          </a:solidFill>
          <a:ln/>
        </p:spPr>
      </p:sp>
      <p:sp>
        <p:nvSpPr>
          <p:cNvPr id="20" name="Text 16"/>
          <p:cNvSpPr txBox="1"/>
          <p:nvPr/>
        </p:nvSpPr>
        <p:spPr>
          <a:xfrm>
            <a:off x="5120640" y="4069080"/>
            <a:ext cx="685800" cy="6858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7"/>
          <p:cNvSpPr txBox="1"/>
          <p:nvPr/>
        </p:nvSpPr>
        <p:spPr>
          <a:xfrm>
            <a:off x="5989320" y="4023360"/>
            <a:ext cx="3017520" cy="777240"/>
          </a:xfrm>
          <a:prstGeom prst="rect">
            <a:avLst/>
          </a:prstGeom>
          <a:noFill/>
          <a:ln/>
        </p:spPr>
        <p:txBody>
          <a:bodyPr wrap="square" lIns="0" tIns="0" rIns="0" bIns="0" rtlCol="0" anchor="ctr"/>
          <a:lstStyle/>
          <a:p>
            <a:pPr indent="0" marL="0">
              <a:buNone/>
            </a:pPr>
            <a:r>
              <a:rPr lang="en-US" sz="1400" b="1" dirty="0">
                <a:solidFill>
                  <a:schemeClr val="tx1"/>
                </a:solidFill>
              </a:rPr>
              <a:t>New datasets</a:t>
            </a:r>
            <a:endParaRPr lang="en-US" sz="1400" dirty="0"/>
          </a:p>
          <a:p>
            <a:pPr indent="0" marL="0">
              <a:buNone/>
            </a:pPr>
            <a:r>
              <a:rPr lang="en-US" sz="1400" dirty="0">
                <a:solidFill>
                  <a:schemeClr val="tx1"/>
                </a:solidFill>
              </a:rPr>
              <a:t>ISOT and LIAR, no retraining</a:t>
            </a:r>
            <a:endParaRPr lang="en-US" sz="1400" dirty="0"/>
          </a:p>
        </p:txBody>
      </p:sp>
      <p:sp>
        <p:nvSpPr>
          <p:cNvPr id="22" name="good to know card"/>
          <p:cNvSpPr/>
          <p:nvPr/>
        </p:nvSpPr>
        <p:spPr>
          <a:xfrm>
            <a:off x="9281160" y="1463040"/>
            <a:ext cx="2377440" cy="1554480"/>
          </a:xfrm>
          <a:prstGeom prst="roundRect">
            <a:avLst>
              <a:gd name="adj" fmla="val 7059"/>
            </a:avLst>
          </a:prstGeom>
          <a:solidFill>
            <a:schemeClr val="bg2"/>
          </a:solidFill>
          <a:ln/>
        </p:spPr>
      </p:sp>
      <p:pic>
        <p:nvPicPr>
          <p:cNvPr id="23" name="Image 2" descr="preencoded.png">    </p:cNvPr>
          <p:cNvPicPr>
            <a:picLocks noChangeAspect="1"/>
          </p:cNvPicPr>
          <p:nvPr/>
        </p:nvPicPr>
        <p:blipFill>
          <a:blip r:embed="rId3"/>
          <a:stretch>
            <a:fillRect/>
          </a:stretch>
        </p:blipFill>
        <p:spPr>
          <a:xfrm>
            <a:off x="9464040" y="1645920"/>
            <a:ext cx="237744" cy="237744"/>
          </a:xfrm>
          <a:prstGeom prst="rect">
            <a:avLst/>
          </a:prstGeom>
        </p:spPr>
      </p:pic>
      <p:sp>
        <p:nvSpPr>
          <p:cNvPr id="24" name="Text 19"/>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25" name="Text 20"/>
          <p:cNvSpPr txBox="1"/>
          <p:nvPr/>
        </p:nvSpPr>
        <p:spPr>
          <a:xfrm>
            <a:off x="9464040" y="1965960"/>
            <a:ext cx="2057400" cy="914400"/>
          </a:xfrm>
          <a:prstGeom prst="rect">
            <a:avLst/>
          </a:prstGeom>
          <a:noFill/>
          <a:ln/>
        </p:spPr>
        <p:txBody>
          <a:bodyPr wrap="square" lIns="0" tIns="0" rIns="0" bIns="0" rtlCol="0" anchor="t"/>
          <a:lstStyle/>
          <a:p>
            <a:pPr indent="0" marL="0">
              <a:buNone/>
            </a:pPr>
            <a:r>
              <a:rPr lang="en-US" sz="1200" dirty="0">
                <a:solidFill>
                  <a:schemeClr val="tx1"/>
                </a:solidFill>
              </a:rPr>
              <a:t>Results so far report accuracy; precision, recall and F1 come with the next phase.</a:t>
            </a:r>
            <a:endParaRPr lang="en-US" sz="1200" dirty="0"/>
          </a:p>
        </p:txBody>
      </p:sp>
      <p:sp>
        <p:nvSpPr>
          <p:cNvPr id="26" name="Text 21"/>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Text track midterm results, Harika Etikela.</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Clean first, then test</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2"/>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Image track · Ananya</a:t>
            </a:r>
            <a:endParaRPr lang="en-US" sz="1100" dirty="0"/>
          </a:p>
        </p:txBody>
      </p:sp>
      <p:sp>
        <p:nvSpPr>
          <p:cNvPr id="6" name="Shape 3"/>
          <p:cNvSpPr/>
          <p:nvPr/>
        </p:nvSpPr>
        <p:spPr>
          <a:xfrm>
            <a:off x="548640" y="1828800"/>
            <a:ext cx="2514600" cy="2377440"/>
          </a:xfrm>
          <a:prstGeom prst="roundRect">
            <a:avLst>
              <a:gd name="adj" fmla="val 5769"/>
            </a:avLst>
          </a:prstGeom>
          <a:solidFill>
            <a:schemeClr val="bg2"/>
          </a:solidFill>
          <a:ln/>
          <a:effectLst>
            <a:outerShdw sx="100000" sy="100000" kx="0" ky="0" algn="bl" rotWithShape="0" blurRad="76200" dist="25400" dir="5400000">
              <a:srgbClr val="000000">
                <a:alpha val="12000"/>
              </a:srgbClr>
            </a:outerShdw>
          </a:effectLst>
        </p:spPr>
      </p:sp>
      <p:sp>
        <p:nvSpPr>
          <p:cNvPr id="7" name="Text 4"/>
          <p:cNvSpPr txBox="1"/>
          <p:nvPr/>
        </p:nvSpPr>
        <p:spPr>
          <a:xfrm>
            <a:off x="731520" y="2103120"/>
            <a:ext cx="2148840" cy="731520"/>
          </a:xfrm>
          <a:prstGeom prst="rect">
            <a:avLst/>
          </a:prstGeom>
          <a:noFill/>
          <a:ln/>
        </p:spPr>
        <p:txBody>
          <a:bodyPr wrap="square" lIns="0" tIns="0" rIns="0" bIns="0" rtlCol="0" anchor="ctr"/>
          <a:lstStyle/>
          <a:p>
            <a:pPr algn="ctr" indent="0" marL="0">
              <a:buNone/>
            </a:pPr>
            <a:r>
              <a:rPr lang="en-US" sz="3400" b="1" dirty="0">
                <a:solidFill>
                  <a:schemeClr val="tx1"/>
                </a:solidFill>
                <a:latin typeface="Cambria" pitchFamily="34" charset="0"/>
                <a:ea typeface="Cambria" pitchFamily="34" charset="-122"/>
                <a:cs typeface="Cambria" pitchFamily="34" charset="-120"/>
              </a:rPr>
              <a:t>120,000</a:t>
            </a:r>
            <a:endParaRPr lang="en-US" sz="3400" dirty="0"/>
          </a:p>
        </p:txBody>
      </p:sp>
      <p:sp>
        <p:nvSpPr>
          <p:cNvPr id="8" name="Text 5"/>
          <p:cNvSpPr txBox="1"/>
          <p:nvPr/>
        </p:nvSpPr>
        <p:spPr>
          <a:xfrm>
            <a:off x="731520" y="2926080"/>
            <a:ext cx="2148840" cy="1005840"/>
          </a:xfrm>
          <a:prstGeom prst="rect">
            <a:avLst/>
          </a:prstGeom>
          <a:noFill/>
          <a:ln/>
        </p:spPr>
        <p:txBody>
          <a:bodyPr wrap="square" lIns="0" tIns="0" rIns="0" bIns="0" rtlCol="0" anchor="t"/>
          <a:lstStyle/>
          <a:p>
            <a:pPr algn="ctr" indent="0" marL="0">
              <a:buNone/>
            </a:pPr>
            <a:r>
              <a:rPr lang="en-US" sz="1400" dirty="0">
                <a:solidFill>
                  <a:schemeClr val="tx1"/>
                </a:solidFill>
              </a:rPr>
              <a:t>CIFAKE images, 32×32</a:t>
            </a:r>
            <a:endParaRPr lang="en-US" sz="1400" dirty="0"/>
          </a:p>
          <a:p>
            <a:pPr algn="ctr" indent="0" marL="0">
              <a:buNone/>
            </a:pPr>
            <a:r>
              <a:rPr lang="en-US" sz="1400" dirty="0">
                <a:solidFill>
                  <a:schemeClr val="tx1"/>
                </a:solidFill>
              </a:rPr>
              <a:t>half real, half generated</a:t>
            </a:r>
            <a:endParaRPr lang="en-US" sz="1400" dirty="0"/>
          </a:p>
        </p:txBody>
      </p:sp>
      <p:pic>
        <p:nvPicPr>
          <p:cNvPr id="9" name="Image 1" descr="preencoded.png">    </p:cNvPr>
          <p:cNvPicPr>
            <a:picLocks noChangeAspect="1"/>
          </p:cNvPicPr>
          <p:nvPr/>
        </p:nvPicPr>
        <p:blipFill>
          <a:blip r:embed="rId2"/>
          <a:stretch>
            <a:fillRect/>
          </a:stretch>
        </p:blipFill>
        <p:spPr>
          <a:xfrm>
            <a:off x="3136392" y="2834640"/>
            <a:ext cx="292608" cy="292608"/>
          </a:xfrm>
          <a:prstGeom prst="rect">
            <a:avLst/>
          </a:prstGeom>
        </p:spPr>
      </p:pic>
      <p:sp>
        <p:nvSpPr>
          <p:cNvPr id="10" name="Shape 6"/>
          <p:cNvSpPr/>
          <p:nvPr/>
        </p:nvSpPr>
        <p:spPr>
          <a:xfrm>
            <a:off x="3474720" y="1828800"/>
            <a:ext cx="2514600" cy="2377440"/>
          </a:xfrm>
          <a:prstGeom prst="roundRect">
            <a:avLst>
              <a:gd name="adj" fmla="val 5769"/>
            </a:avLst>
          </a:prstGeom>
          <a:solidFill>
            <a:schemeClr val="bg2"/>
          </a:solidFill>
          <a:ln/>
          <a:effectLst>
            <a:outerShdw sx="100000" sy="100000" kx="0" ky="0" algn="bl" rotWithShape="0" blurRad="76200" dist="25400" dir="5400000">
              <a:srgbClr val="000000">
                <a:alpha val="12000"/>
              </a:srgbClr>
            </a:outerShdw>
          </a:effectLst>
        </p:spPr>
      </p:sp>
      <p:sp>
        <p:nvSpPr>
          <p:cNvPr id="11" name="Text 7"/>
          <p:cNvSpPr txBox="1"/>
          <p:nvPr/>
        </p:nvSpPr>
        <p:spPr>
          <a:xfrm>
            <a:off x="3657600" y="2103120"/>
            <a:ext cx="2148840" cy="73152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Duplicate audit</a:t>
            </a:r>
            <a:endParaRPr lang="en-US" sz="2200" dirty="0"/>
          </a:p>
        </p:txBody>
      </p:sp>
      <p:sp>
        <p:nvSpPr>
          <p:cNvPr id="12" name="Text 8"/>
          <p:cNvSpPr txBox="1"/>
          <p:nvPr/>
        </p:nvSpPr>
        <p:spPr>
          <a:xfrm>
            <a:off x="3657600" y="2926080"/>
            <a:ext cx="2148840" cy="1005840"/>
          </a:xfrm>
          <a:prstGeom prst="rect">
            <a:avLst/>
          </a:prstGeom>
          <a:noFill/>
          <a:ln/>
        </p:spPr>
        <p:txBody>
          <a:bodyPr wrap="square" lIns="0" tIns="0" rIns="0" bIns="0" rtlCol="0" anchor="t"/>
          <a:lstStyle/>
          <a:p>
            <a:pPr algn="ctr" indent="0" marL="0">
              <a:buNone/>
            </a:pPr>
            <a:r>
              <a:rPr lang="en-US" sz="1400" dirty="0">
                <a:solidFill>
                  <a:schemeClr val="tx1"/>
                </a:solidFill>
              </a:rPr>
              <a:t>2,218 train · 454 test</a:t>
            </a:r>
            <a:endParaRPr lang="en-US" sz="1400" dirty="0"/>
          </a:p>
          <a:p>
            <a:pPr algn="ctr" indent="0" marL="0">
              <a:buNone/>
            </a:pPr>
            <a:r>
              <a:rPr lang="en-US" sz="1400" dirty="0">
                <a:solidFill>
                  <a:schemeClr val="tx1"/>
                </a:solidFill>
              </a:rPr>
              <a:t>378 shared across splits</a:t>
            </a:r>
            <a:endParaRPr lang="en-US" sz="1400" dirty="0"/>
          </a:p>
        </p:txBody>
      </p:sp>
      <p:pic>
        <p:nvPicPr>
          <p:cNvPr id="13" name="Image 2" descr="preencoded.png">    </p:cNvPr>
          <p:cNvPicPr>
            <a:picLocks noChangeAspect="1"/>
          </p:cNvPicPr>
          <p:nvPr/>
        </p:nvPicPr>
        <p:blipFill>
          <a:blip r:embed="rId3"/>
          <a:stretch>
            <a:fillRect/>
          </a:stretch>
        </p:blipFill>
        <p:spPr>
          <a:xfrm>
            <a:off x="6062472" y="2834640"/>
            <a:ext cx="292608" cy="292608"/>
          </a:xfrm>
          <a:prstGeom prst="rect">
            <a:avLst/>
          </a:prstGeom>
        </p:spPr>
      </p:pic>
      <p:sp>
        <p:nvSpPr>
          <p:cNvPr id="14" name="Shape 9"/>
          <p:cNvSpPr/>
          <p:nvPr/>
        </p:nvSpPr>
        <p:spPr>
          <a:xfrm>
            <a:off x="6400800" y="1828800"/>
            <a:ext cx="2514600" cy="2377440"/>
          </a:xfrm>
          <a:prstGeom prst="roundRect">
            <a:avLst>
              <a:gd name="adj" fmla="val 5769"/>
            </a:avLst>
          </a:prstGeom>
          <a:solidFill>
            <a:schemeClr val="accent2"/>
          </a:solidFill>
          <a:ln/>
          <a:effectLst>
            <a:outerShdw sx="100000" sy="100000" kx="0" ky="0" algn="bl" rotWithShape="0" blurRad="76200" dist="25400" dir="5400000">
              <a:srgbClr val="000000">
                <a:alpha val="12000"/>
              </a:srgbClr>
            </a:outerShdw>
          </a:effectLst>
        </p:spPr>
      </p:sp>
      <p:sp>
        <p:nvSpPr>
          <p:cNvPr id="15" name="Text 10"/>
          <p:cNvSpPr txBox="1"/>
          <p:nvPr/>
        </p:nvSpPr>
        <p:spPr>
          <a:xfrm>
            <a:off x="6583680" y="2103120"/>
            <a:ext cx="214884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Clean split</a:t>
            </a:r>
            <a:endParaRPr lang="en-US" sz="2200" dirty="0"/>
          </a:p>
        </p:txBody>
      </p:sp>
      <p:sp>
        <p:nvSpPr>
          <p:cNvPr id="16" name="Text 11"/>
          <p:cNvSpPr txBox="1"/>
          <p:nvPr/>
        </p:nvSpPr>
        <p:spPr>
          <a:xfrm>
            <a:off x="6583680" y="2926080"/>
            <a:ext cx="2148840" cy="1005840"/>
          </a:xfrm>
          <a:prstGeom prst="rect">
            <a:avLst/>
          </a:prstGeom>
          <a:noFill/>
          <a:ln/>
        </p:spPr>
        <p:txBody>
          <a:bodyPr wrap="square" lIns="0" tIns="0" rIns="0" bIns="0" rtlCol="0" anchor="t"/>
          <a:lstStyle/>
          <a:p>
            <a:pPr algn="ctr" indent="0" marL="0">
              <a:buNone/>
            </a:pPr>
            <a:r>
              <a:rPr lang="en-US" sz="1400" dirty="0">
                <a:solidFill>
                  <a:schemeClr val="bg1"/>
                </a:solidFill>
              </a:rPr>
              <a:t>10,000 · 1,996 · 3,986</a:t>
            </a:r>
            <a:endParaRPr lang="en-US" sz="1400" dirty="0"/>
          </a:p>
          <a:p>
            <a:pPr algn="ctr" indent="0" marL="0">
              <a:buNone/>
            </a:pPr>
            <a:r>
              <a:rPr lang="en-US" sz="1400" dirty="0">
                <a:solidFill>
                  <a:schemeClr val="bg1"/>
                </a:solidFill>
              </a:rPr>
              <a:t>0 images shared with train</a:t>
            </a:r>
            <a:endParaRPr lang="en-US" sz="1400" dirty="0"/>
          </a:p>
        </p:txBody>
      </p:sp>
      <p:sp>
        <p:nvSpPr>
          <p:cNvPr id="17" name="Text 12"/>
          <p:cNvSpPr txBox="1"/>
          <p:nvPr/>
        </p:nvSpPr>
        <p:spPr>
          <a:xfrm>
            <a:off x="6309360" y="4343400"/>
            <a:ext cx="2651760" cy="548640"/>
          </a:xfrm>
          <a:prstGeom prst="rect">
            <a:avLst/>
          </a:prstGeom>
          <a:noFill/>
          <a:ln/>
        </p:spPr>
        <p:txBody>
          <a:bodyPr wrap="square" lIns="0" tIns="0" rIns="0" bIns="0" rtlCol="0" anchor="ctr"/>
          <a:lstStyle/>
          <a:p>
            <a:pPr indent="0" marL="0">
              <a:buNone/>
            </a:pPr>
            <a:r>
              <a:rPr lang="en-US" sz="1200" i="1" dirty="0">
                <a:solidFill>
                  <a:schemeClr val="accent4"/>
                </a:solidFill>
              </a:rPr>
              <a:t>Train · validation · test images in the clean working subset</a:t>
            </a:r>
            <a:endParaRPr lang="en-US" sz="1200" dirty="0"/>
          </a:p>
        </p:txBody>
      </p:sp>
      <p:sp>
        <p:nvSpPr>
          <p:cNvPr id="18" name="good to know card"/>
          <p:cNvSpPr/>
          <p:nvPr/>
        </p:nvSpPr>
        <p:spPr>
          <a:xfrm>
            <a:off x="9281160" y="1463040"/>
            <a:ext cx="2377440" cy="1920240"/>
          </a:xfrm>
          <a:prstGeom prst="roundRect">
            <a:avLst>
              <a:gd name="adj" fmla="val 5714"/>
            </a:avLst>
          </a:prstGeom>
          <a:solidFill>
            <a:schemeClr val="bg2"/>
          </a:solidFill>
          <a:ln/>
        </p:spPr>
      </p:sp>
      <p:pic>
        <p:nvPicPr>
          <p:cNvPr id="19" name="Image 3" descr="preencoded.png">    </p:cNvPr>
          <p:cNvPicPr>
            <a:picLocks noChangeAspect="1"/>
          </p:cNvPicPr>
          <p:nvPr/>
        </p:nvPicPr>
        <p:blipFill>
          <a:blip r:embed="rId4"/>
          <a:stretch>
            <a:fillRect/>
          </a:stretch>
        </p:blipFill>
        <p:spPr>
          <a:xfrm>
            <a:off x="9464040" y="1645920"/>
            <a:ext cx="237744" cy="237744"/>
          </a:xfrm>
          <a:prstGeom prst="rect">
            <a:avLst/>
          </a:prstGeom>
        </p:spPr>
      </p:pic>
      <p:sp>
        <p:nvSpPr>
          <p:cNvPr id="20" name="Text 14"/>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21" name="Text 15"/>
          <p:cNvSpPr txBox="1"/>
          <p:nvPr/>
        </p:nvSpPr>
        <p:spPr>
          <a:xfrm>
            <a:off x="9464040" y="1965960"/>
            <a:ext cx="2057400" cy="1280160"/>
          </a:xfrm>
          <a:prstGeom prst="rect">
            <a:avLst/>
          </a:prstGeom>
          <a:noFill/>
          <a:ln/>
        </p:spPr>
        <p:txBody>
          <a:bodyPr wrap="square" lIns="0" tIns="0" rIns="0" bIns="0" rtlCol="0" anchor="t"/>
          <a:lstStyle/>
          <a:p>
            <a:pPr indent="0" marL="0">
              <a:buNone/>
            </a:pPr>
            <a:r>
              <a:rPr lang="en-US" sz="1200" dirty="0">
                <a:solidFill>
                  <a:schemeClr val="tx1"/>
                </a:solidFill>
              </a:rPr>
              <a:t>Pixel-identical copies were found across splits and removed before the final run, so test scores are not inflated.</a:t>
            </a:r>
            <a:endParaRPr lang="en-US" sz="1200" dirty="0"/>
          </a:p>
        </p:txBody>
      </p:sp>
      <p:sp>
        <p:nvSpPr>
          <p:cNvPr id="22" name="Text 16"/>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Image track midterm results, Ananya (CIFAKE: Bird and Lotfi, 2024).</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Climbing the model ladder</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2"/>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Image track · Ananya</a:t>
            </a:r>
            <a:endParaRPr lang="en-US" sz="1100" dirty="0"/>
          </a:p>
        </p:txBody>
      </p:sp>
      <p:graphicFrame>
        <p:nvGraphicFramePr>
          <p:cNvPr id="6" name="Chart 0" descr=""/>
          <p:cNvGraphicFramePr/>
          <p:nvPr/>
        </p:nvGraphicFramePr>
        <p:xfrm>
          <a:off x="548640" y="1325880"/>
          <a:ext cx="5852160" cy="45720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6675120" y="1645920"/>
            <a:ext cx="237744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96.3%</a:t>
            </a:r>
            <a:endParaRPr lang="en-US" sz="4000" dirty="0"/>
          </a:p>
        </p:txBody>
      </p:sp>
      <p:sp>
        <p:nvSpPr>
          <p:cNvPr id="8" name="Text 4"/>
          <p:cNvSpPr txBox="1"/>
          <p:nvPr/>
        </p:nvSpPr>
        <p:spPr>
          <a:xfrm>
            <a:off x="6675120" y="2377440"/>
            <a:ext cx="2377440" cy="502920"/>
          </a:xfrm>
          <a:prstGeom prst="rect">
            <a:avLst/>
          </a:prstGeom>
          <a:noFill/>
          <a:ln/>
        </p:spPr>
        <p:txBody>
          <a:bodyPr wrap="square" lIns="0" tIns="0" rIns="0" bIns="0" rtlCol="0" anchor="t"/>
          <a:lstStyle/>
          <a:p>
            <a:pPr indent="0" marL="0">
              <a:buNone/>
            </a:pPr>
            <a:r>
              <a:rPr lang="en-US" sz="1400" dirty="0">
                <a:solidFill>
                  <a:schemeClr val="tx1"/>
                </a:solidFill>
              </a:rPr>
              <a:t>fine-tuned ResNet18 accuracy</a:t>
            </a:r>
            <a:endParaRPr lang="en-US" sz="1400" dirty="0"/>
          </a:p>
        </p:txBody>
      </p:sp>
      <p:sp>
        <p:nvSpPr>
          <p:cNvPr id="9" name="Text 5"/>
          <p:cNvSpPr txBox="1"/>
          <p:nvPr/>
        </p:nvSpPr>
        <p:spPr>
          <a:xfrm>
            <a:off x="6675120" y="3154680"/>
            <a:ext cx="237744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0.995</a:t>
            </a:r>
            <a:endParaRPr lang="en-US" sz="4000" dirty="0"/>
          </a:p>
        </p:txBody>
      </p:sp>
      <p:sp>
        <p:nvSpPr>
          <p:cNvPr id="10" name="Text 6"/>
          <p:cNvSpPr txBox="1"/>
          <p:nvPr/>
        </p:nvSpPr>
        <p:spPr>
          <a:xfrm>
            <a:off x="6675120" y="3886200"/>
            <a:ext cx="2377440" cy="502920"/>
          </a:xfrm>
          <a:prstGeom prst="rect">
            <a:avLst/>
          </a:prstGeom>
          <a:noFill/>
          <a:ln/>
        </p:spPr>
        <p:txBody>
          <a:bodyPr wrap="square" lIns="0" tIns="0" rIns="0" bIns="0" rtlCol="0" anchor="t"/>
          <a:lstStyle/>
          <a:p>
            <a:pPr indent="0" marL="0">
              <a:buNone/>
            </a:pPr>
            <a:r>
              <a:rPr lang="en-US" sz="1400" dirty="0">
                <a:solidFill>
                  <a:schemeClr val="tx1"/>
                </a:solidFill>
              </a:rPr>
              <a:t>AUC for the same model</a:t>
            </a:r>
            <a:endParaRPr lang="en-US" sz="1400" dirty="0"/>
          </a:p>
        </p:txBody>
      </p:sp>
      <p:sp>
        <p:nvSpPr>
          <p:cNvPr id="11" name="Text 7"/>
          <p:cNvSpPr txBox="1"/>
          <p:nvPr/>
        </p:nvSpPr>
        <p:spPr>
          <a:xfrm>
            <a:off x="6675120" y="4663440"/>
            <a:ext cx="2377440" cy="731520"/>
          </a:xfrm>
          <a:prstGeom prst="rect">
            <a:avLst/>
          </a:prstGeom>
          <a:noFill/>
          <a:ln/>
        </p:spPr>
        <p:txBody>
          <a:bodyPr wrap="square" lIns="0" tIns="0" rIns="0" bIns="0" rtlCol="0" anchor="ctr"/>
          <a:lstStyle/>
          <a:p>
            <a:pPr indent="0" marL="0">
              <a:buNone/>
            </a:pPr>
            <a:r>
              <a:rPr lang="en-US" sz="3200" b="1" dirty="0">
                <a:solidFill>
                  <a:schemeClr val="accent4"/>
                </a:solidFill>
                <a:latin typeface="Cambria" pitchFamily="34" charset="0"/>
                <a:ea typeface="Cambria" pitchFamily="34" charset="-122"/>
                <a:cs typeface="Cambria" pitchFamily="34" charset="-120"/>
              </a:rPr>
              <a:t>39×</a:t>
            </a:r>
            <a:endParaRPr lang="en-US" sz="3200" dirty="0"/>
          </a:p>
        </p:txBody>
      </p:sp>
      <p:sp>
        <p:nvSpPr>
          <p:cNvPr id="12" name="Text 8"/>
          <p:cNvSpPr txBox="1"/>
          <p:nvPr/>
        </p:nvSpPr>
        <p:spPr>
          <a:xfrm>
            <a:off x="6675120" y="5394960"/>
            <a:ext cx="2377440" cy="502920"/>
          </a:xfrm>
          <a:prstGeom prst="rect">
            <a:avLst/>
          </a:prstGeom>
          <a:noFill/>
          <a:ln/>
        </p:spPr>
        <p:txBody>
          <a:bodyPr wrap="square" lIns="0" tIns="0" rIns="0" bIns="0" rtlCol="0" anchor="t"/>
          <a:lstStyle/>
          <a:p>
            <a:pPr indent="0" marL="0">
              <a:buNone/>
            </a:pPr>
            <a:r>
              <a:rPr lang="en-US" sz="1400" dirty="0">
                <a:solidFill>
                  <a:schemeClr val="tx1"/>
                </a:solidFill>
              </a:rPr>
              <a:t>smaller small CNN, only 2.1 points behind</a:t>
            </a:r>
            <a:endParaRPr lang="en-US" sz="1400" dirty="0"/>
          </a:p>
        </p:txBody>
      </p:sp>
      <p:sp>
        <p:nvSpPr>
          <p:cNvPr id="13" name="good to know card"/>
          <p:cNvSpPr/>
          <p:nvPr/>
        </p:nvSpPr>
        <p:spPr>
          <a:xfrm>
            <a:off x="9281160" y="1463040"/>
            <a:ext cx="2377440" cy="1463040"/>
          </a:xfrm>
          <a:prstGeom prst="roundRect">
            <a:avLst>
              <a:gd name="adj" fmla="val 7500"/>
            </a:avLst>
          </a:prstGeom>
          <a:solidFill>
            <a:schemeClr val="bg2"/>
          </a:solidFill>
          <a:ln/>
        </p:spPr>
      </p:sp>
      <p:pic>
        <p:nvPicPr>
          <p:cNvPr id="14" name="Image 1" descr="preencoded.png">    </p:cNvPr>
          <p:cNvPicPr>
            <a:picLocks noChangeAspect="1"/>
          </p:cNvPicPr>
          <p:nvPr/>
        </p:nvPicPr>
        <p:blipFill>
          <a:blip r:embed="rId3"/>
          <a:stretch>
            <a:fillRect/>
          </a:stretch>
        </p:blipFill>
        <p:spPr>
          <a:xfrm>
            <a:off x="9464040" y="1645920"/>
            <a:ext cx="237744" cy="237744"/>
          </a:xfrm>
          <a:prstGeom prst="rect">
            <a:avLst/>
          </a:prstGeom>
        </p:spPr>
      </p:pic>
      <p:sp>
        <p:nvSpPr>
          <p:cNvPr id="15" name="Text 10"/>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16" name="Text 11"/>
          <p:cNvSpPr txBox="1"/>
          <p:nvPr/>
        </p:nvSpPr>
        <p:spPr>
          <a:xfrm>
            <a:off x="9464040" y="1965960"/>
            <a:ext cx="2057400" cy="822960"/>
          </a:xfrm>
          <a:prstGeom prst="rect">
            <a:avLst/>
          </a:prstGeom>
          <a:noFill/>
          <a:ln/>
        </p:spPr>
        <p:txBody>
          <a:bodyPr wrap="square" lIns="0" tIns="0" rIns="0" bIns="0" rtlCol="0" anchor="t"/>
          <a:lstStyle/>
          <a:p>
            <a:pPr indent="0" marL="0">
              <a:buNone/>
            </a:pPr>
            <a:r>
              <a:rPr lang="en-US" sz="1200" dirty="0">
                <a:solidFill>
                  <a:schemeClr val="tx1"/>
                </a:solidFill>
              </a:rPr>
              <a:t>One run so far; three seeds and the full training set are planned.</a:t>
            </a:r>
            <a:endParaRPr lang="en-US" sz="1200" dirty="0"/>
          </a:p>
        </p:txBody>
      </p:sp>
      <p:sp>
        <p:nvSpPr>
          <p:cNvPr id="17" name="Text 12"/>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Image track midterm results, Ananya. 95% range for ResNet18: 95.7% to 96.8%.</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Fine detail, not color, carries the signal</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2"/>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Image track · Ananya</a:t>
            </a:r>
            <a:endParaRPr lang="en-US" sz="1100" dirty="0"/>
          </a:p>
        </p:txBody>
      </p:sp>
      <p:graphicFrame>
        <p:nvGraphicFramePr>
          <p:cNvPr id="6" name="Chart 0" descr=""/>
          <p:cNvGraphicFramePr/>
          <p:nvPr/>
        </p:nvGraphicFramePr>
        <p:xfrm>
          <a:off x="548640" y="1325880"/>
          <a:ext cx="4206240" cy="448056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120640" y="1554480"/>
            <a:ext cx="3840480" cy="914400"/>
          </a:xfrm>
          <a:prstGeom prst="roundRect">
            <a:avLst>
              <a:gd name="adj" fmla="val 12000"/>
            </a:avLst>
          </a:prstGeom>
          <a:solidFill>
            <a:schemeClr val="bg2"/>
          </a:solidFill>
          <a:ln/>
        </p:spPr>
      </p:sp>
      <p:sp>
        <p:nvSpPr>
          <p:cNvPr id="8" name="Text 4"/>
          <p:cNvSpPr txBox="1"/>
          <p:nvPr/>
        </p:nvSpPr>
        <p:spPr>
          <a:xfrm>
            <a:off x="5349240" y="1554480"/>
            <a:ext cx="3474720" cy="914400"/>
          </a:xfrm>
          <a:prstGeom prst="rect">
            <a:avLst/>
          </a:prstGeom>
          <a:noFill/>
          <a:ln/>
        </p:spPr>
        <p:txBody>
          <a:bodyPr wrap="square" lIns="0" tIns="0" rIns="0" bIns="0" rtlCol="0" anchor="ctr"/>
          <a:lstStyle/>
          <a:p>
            <a:pPr indent="0" marL="0">
              <a:buNone/>
            </a:pPr>
            <a:r>
              <a:rPr lang="en-US" sz="1600" b="1" dirty="0">
                <a:solidFill>
                  <a:schemeClr val="tx1"/>
                </a:solidFill>
              </a:rPr>
              <a:t>Strong blur (σ = 1)</a:t>
            </a:r>
            <a:endParaRPr lang="en-US" sz="1600" dirty="0"/>
          </a:p>
          <a:p>
            <a:pPr indent="0" marL="0">
              <a:buNone/>
            </a:pPr>
            <a:r>
              <a:rPr lang="en-US" sz="1600" b="1" dirty="0">
                <a:solidFill>
                  <a:schemeClr val="accent2"/>
                </a:solidFill>
              </a:rPr>
              <a:t>AUC 0.995 → 0.77</a:t>
            </a:r>
            <a:endParaRPr lang="en-US" sz="1600" dirty="0"/>
          </a:p>
        </p:txBody>
      </p:sp>
      <p:sp>
        <p:nvSpPr>
          <p:cNvPr id="9" name="Shape 5"/>
          <p:cNvSpPr/>
          <p:nvPr/>
        </p:nvSpPr>
        <p:spPr>
          <a:xfrm>
            <a:off x="5120640" y="2697480"/>
            <a:ext cx="3840480" cy="914400"/>
          </a:xfrm>
          <a:prstGeom prst="roundRect">
            <a:avLst>
              <a:gd name="adj" fmla="val 12000"/>
            </a:avLst>
          </a:prstGeom>
          <a:solidFill>
            <a:schemeClr val="bg2"/>
          </a:solidFill>
          <a:ln/>
        </p:spPr>
      </p:sp>
      <p:sp>
        <p:nvSpPr>
          <p:cNvPr id="10" name="Text 6"/>
          <p:cNvSpPr txBox="1"/>
          <p:nvPr/>
        </p:nvSpPr>
        <p:spPr>
          <a:xfrm>
            <a:off x="5349240" y="2697480"/>
            <a:ext cx="3474720" cy="914400"/>
          </a:xfrm>
          <a:prstGeom prst="rect">
            <a:avLst/>
          </a:prstGeom>
          <a:noFill/>
          <a:ln/>
        </p:spPr>
        <p:txBody>
          <a:bodyPr wrap="square" lIns="0" tIns="0" rIns="0" bIns="0" rtlCol="0" anchor="ctr"/>
          <a:lstStyle/>
          <a:p>
            <a:pPr indent="0" marL="0">
              <a:buNone/>
            </a:pPr>
            <a:r>
              <a:rPr lang="en-US" sz="1600" b="1" dirty="0">
                <a:solidFill>
                  <a:schemeClr val="tx1"/>
                </a:solidFill>
              </a:rPr>
              <a:t>Grayscale</a:t>
            </a:r>
            <a:endParaRPr lang="en-US" sz="1600" dirty="0"/>
          </a:p>
          <a:p>
            <a:pPr indent="0" marL="0">
              <a:buNone/>
            </a:pPr>
            <a:r>
              <a:rPr lang="en-US" sz="1600" b="1" dirty="0">
                <a:solidFill>
                  <a:schemeClr val="accent2"/>
                </a:solidFill>
              </a:rPr>
              <a:t>AUC stays 0.98</a:t>
            </a:r>
            <a:endParaRPr lang="en-US" sz="1600" dirty="0"/>
          </a:p>
        </p:txBody>
      </p:sp>
      <p:sp>
        <p:nvSpPr>
          <p:cNvPr id="11" name="Shape 7"/>
          <p:cNvSpPr/>
          <p:nvPr/>
        </p:nvSpPr>
        <p:spPr>
          <a:xfrm>
            <a:off x="5120640" y="3840480"/>
            <a:ext cx="3840480" cy="914400"/>
          </a:xfrm>
          <a:prstGeom prst="roundRect">
            <a:avLst>
              <a:gd name="adj" fmla="val 12000"/>
            </a:avLst>
          </a:prstGeom>
          <a:solidFill>
            <a:schemeClr val="bg2"/>
          </a:solidFill>
          <a:ln/>
        </p:spPr>
      </p:sp>
      <p:sp>
        <p:nvSpPr>
          <p:cNvPr id="12" name="Text 8"/>
          <p:cNvSpPr txBox="1"/>
          <p:nvPr/>
        </p:nvSpPr>
        <p:spPr>
          <a:xfrm>
            <a:off x="5349240" y="3840480"/>
            <a:ext cx="3474720" cy="914400"/>
          </a:xfrm>
          <a:prstGeom prst="rect">
            <a:avLst/>
          </a:prstGeom>
          <a:noFill/>
          <a:ln/>
        </p:spPr>
        <p:txBody>
          <a:bodyPr wrap="square" lIns="0" tIns="0" rIns="0" bIns="0" rtlCol="0" anchor="ctr"/>
          <a:lstStyle/>
          <a:p>
            <a:pPr indent="0" marL="0">
              <a:buNone/>
            </a:pPr>
            <a:r>
              <a:rPr lang="en-US" sz="1600" b="1" dirty="0">
                <a:solidFill>
                  <a:schemeClr val="tx1"/>
                </a:solidFill>
              </a:rPr>
              <a:t>JPEG quality 75</a:t>
            </a:r>
            <a:endParaRPr lang="en-US" sz="1600" dirty="0"/>
          </a:p>
          <a:p>
            <a:pPr indent="0" marL="0">
              <a:buNone/>
            </a:pPr>
            <a:r>
              <a:rPr lang="en-US" sz="1600" b="1" dirty="0">
                <a:solidFill>
                  <a:schemeClr val="accent2"/>
                </a:solidFill>
              </a:rPr>
              <a:t>No change</a:t>
            </a:r>
            <a:endParaRPr lang="en-US" sz="1600" dirty="0"/>
          </a:p>
        </p:txBody>
      </p:sp>
      <p:sp>
        <p:nvSpPr>
          <p:cNvPr id="13" name="Text 9"/>
          <p:cNvSpPr txBox="1"/>
          <p:nvPr/>
        </p:nvSpPr>
        <p:spPr>
          <a:xfrm>
            <a:off x="5120640" y="5074920"/>
            <a:ext cx="3840480" cy="685800"/>
          </a:xfrm>
          <a:prstGeom prst="rect">
            <a:avLst/>
          </a:prstGeom>
          <a:noFill/>
          <a:ln/>
        </p:spPr>
        <p:txBody>
          <a:bodyPr wrap="square" lIns="0" tIns="0" rIns="0" bIns="0" rtlCol="0" anchor="ctr"/>
          <a:lstStyle/>
          <a:p>
            <a:pPr indent="0" marL="0">
              <a:buNone/>
            </a:pPr>
            <a:r>
              <a:rPr lang="en-US" sz="1500" b="1" dirty="0">
                <a:solidFill>
                  <a:schemeClr val="tx1"/>
                </a:solidFill>
              </a:rPr>
              <a:t>Next: test on images from other generators and real-photo sources.</a:t>
            </a:r>
            <a:endParaRPr lang="en-US" sz="1500" dirty="0"/>
          </a:p>
        </p:txBody>
      </p:sp>
      <p:sp>
        <p:nvSpPr>
          <p:cNvPr id="14" name="good to know card"/>
          <p:cNvSpPr/>
          <p:nvPr/>
        </p:nvSpPr>
        <p:spPr>
          <a:xfrm>
            <a:off x="9281160" y="1463040"/>
            <a:ext cx="2377440" cy="1737360"/>
          </a:xfrm>
          <a:prstGeom prst="roundRect">
            <a:avLst>
              <a:gd name="adj" fmla="val 6316"/>
            </a:avLst>
          </a:prstGeom>
          <a:solidFill>
            <a:schemeClr val="bg2"/>
          </a:solidFill>
          <a:ln/>
        </p:spPr>
      </p:sp>
      <p:pic>
        <p:nvPicPr>
          <p:cNvPr id="15" name="Image 1" descr="preencoded.png">    </p:cNvPr>
          <p:cNvPicPr>
            <a:picLocks noChangeAspect="1"/>
          </p:cNvPicPr>
          <p:nvPr/>
        </p:nvPicPr>
        <p:blipFill>
          <a:blip r:embed="rId3"/>
          <a:stretch>
            <a:fillRect/>
          </a:stretch>
        </p:blipFill>
        <p:spPr>
          <a:xfrm>
            <a:off x="9464040" y="1645920"/>
            <a:ext cx="237744" cy="237744"/>
          </a:xfrm>
          <a:prstGeom prst="rect">
            <a:avLst/>
          </a:prstGeom>
        </p:spPr>
      </p:pic>
      <p:sp>
        <p:nvSpPr>
          <p:cNvPr id="16" name="Text 11"/>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17" name="Text 12"/>
          <p:cNvSpPr txBox="1"/>
          <p:nvPr/>
        </p:nvSpPr>
        <p:spPr>
          <a:xfrm>
            <a:off x="9464040" y="1965960"/>
            <a:ext cx="2057400" cy="1097280"/>
          </a:xfrm>
          <a:prstGeom prst="rect">
            <a:avLst/>
          </a:prstGeom>
          <a:noFill/>
          <a:ln/>
        </p:spPr>
        <p:txBody>
          <a:bodyPr wrap="square" lIns="0" tIns="0" rIns="0" bIns="0" rtlCol="0" anchor="t"/>
          <a:lstStyle/>
          <a:p>
            <a:pPr indent="0" marL="0">
              <a:buNone/>
            </a:pPr>
            <a:r>
              <a:rPr lang="en-US" sz="1200" dirty="0">
                <a:solidFill>
                  <a:schemeClr val="tx1"/>
                </a:solidFill>
              </a:rPr>
              <a:t>Grad-CAM shows where the model looks; it is not proof of a true generator fingerprint.</a:t>
            </a:r>
            <a:endParaRPr lang="en-US" sz="1200" dirty="0"/>
          </a:p>
        </p:txBody>
      </p:sp>
      <p:sp>
        <p:nvSpPr>
          <p:cNvPr id="18" name="Text 13"/>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Image track midterm results, Ananya.</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does a pretrained model already know?</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3"/>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Combined track · Rafiul Haider</a:t>
            </a:r>
            <a:endParaRPr lang="en-US" sz="1100" dirty="0"/>
          </a:p>
        </p:txBody>
      </p:sp>
      <p:sp>
        <p:nvSpPr>
          <p:cNvPr id="6" name="Shape 3"/>
          <p:cNvSpPr/>
          <p:nvPr/>
        </p:nvSpPr>
        <p:spPr>
          <a:xfrm>
            <a:off x="548640" y="1463040"/>
            <a:ext cx="2468880" cy="1097280"/>
          </a:xfrm>
          <a:prstGeom prst="roundRect">
            <a:avLst>
              <a:gd name="adj" fmla="val 12500"/>
            </a:avLst>
          </a:prstGeom>
          <a:solidFill>
            <a:schemeClr val="bg2"/>
          </a:solidFill>
          <a:ln/>
          <a:effectLst>
            <a:outerShdw sx="100000" sy="100000" kx="0" ky="0" algn="bl" rotWithShape="0" blurRad="76200" dist="25400" dir="5400000">
              <a:srgbClr val="000000">
                <a:alpha val="12000"/>
              </a:srgbClr>
            </a:outerShdw>
          </a:effectLst>
        </p:spPr>
      </p:sp>
      <p:sp>
        <p:nvSpPr>
          <p:cNvPr id="7" name="Text 4"/>
          <p:cNvSpPr txBox="1"/>
          <p:nvPr/>
        </p:nvSpPr>
        <p:spPr>
          <a:xfrm>
            <a:off x="548640" y="1463040"/>
            <a:ext cx="2468880" cy="1097280"/>
          </a:xfrm>
          <a:prstGeom prst="rect">
            <a:avLst/>
          </a:prstGeom>
          <a:noFill/>
          <a:ln/>
        </p:spPr>
        <p:txBody>
          <a:bodyPr wrap="square" lIns="0" tIns="0" rIns="0" bIns="0" rtlCol="0" anchor="ctr"/>
          <a:lstStyle/>
          <a:p>
            <a:pPr algn="ctr" indent="0" marL="0">
              <a:buNone/>
            </a:pPr>
            <a:r>
              <a:rPr lang="en-US" sz="2000" b="1" dirty="0">
                <a:solidFill>
                  <a:schemeClr val="tx1"/>
                </a:solidFill>
              </a:rPr>
              <a:t>Image + caption</a:t>
            </a:r>
            <a:endParaRPr lang="en-US" sz="2000" dirty="0"/>
          </a:p>
        </p:txBody>
      </p:sp>
      <p:pic>
        <p:nvPicPr>
          <p:cNvPr id="8" name="Image 1" descr="preencoded.png">    </p:cNvPr>
          <p:cNvPicPr>
            <a:picLocks noChangeAspect="1"/>
          </p:cNvPicPr>
          <p:nvPr/>
        </p:nvPicPr>
        <p:blipFill>
          <a:blip r:embed="rId2"/>
          <a:stretch>
            <a:fillRect/>
          </a:stretch>
        </p:blipFill>
        <p:spPr>
          <a:xfrm>
            <a:off x="3090672" y="1856232"/>
            <a:ext cx="292608" cy="292608"/>
          </a:xfrm>
          <a:prstGeom prst="rect">
            <a:avLst/>
          </a:prstGeom>
        </p:spPr>
      </p:pic>
      <p:sp>
        <p:nvSpPr>
          <p:cNvPr id="9" name="Shape 5"/>
          <p:cNvSpPr/>
          <p:nvPr/>
        </p:nvSpPr>
        <p:spPr>
          <a:xfrm>
            <a:off x="3429000" y="1463040"/>
            <a:ext cx="2468880" cy="1097280"/>
          </a:xfrm>
          <a:prstGeom prst="roundRect">
            <a:avLst>
              <a:gd name="adj" fmla="val 12500"/>
            </a:avLst>
          </a:prstGeom>
          <a:solidFill>
            <a:schemeClr val="accent3"/>
          </a:solidFill>
          <a:ln/>
          <a:effectLst>
            <a:outerShdw sx="100000" sy="100000" kx="0" ky="0" algn="bl" rotWithShape="0" blurRad="76200" dist="25400" dir="5400000">
              <a:srgbClr val="000000">
                <a:alpha val="12000"/>
              </a:srgbClr>
            </a:outerShdw>
          </a:effectLst>
        </p:spPr>
      </p:sp>
      <p:sp>
        <p:nvSpPr>
          <p:cNvPr id="10" name="Text 6"/>
          <p:cNvSpPr txBox="1"/>
          <p:nvPr/>
        </p:nvSpPr>
        <p:spPr>
          <a:xfrm>
            <a:off x="3429000" y="1463040"/>
            <a:ext cx="2468880" cy="1097280"/>
          </a:xfrm>
          <a:prstGeom prst="rect">
            <a:avLst/>
          </a:prstGeom>
          <a:noFill/>
          <a:ln/>
        </p:spPr>
        <p:txBody>
          <a:bodyPr wrap="square" lIns="0" tIns="0" rIns="0" bIns="0" rtlCol="0" anchor="ctr"/>
          <a:lstStyle/>
          <a:p>
            <a:pPr algn="ctr" indent="0" marL="0">
              <a:buNone/>
            </a:pPr>
            <a:r>
              <a:rPr lang="en-US" sz="2000" b="1" dirty="0">
                <a:solidFill>
                  <a:schemeClr val="bg1"/>
                </a:solidFill>
              </a:rPr>
              <a:t>LAYA-Vision</a:t>
            </a:r>
            <a:endParaRPr lang="en-US" sz="2000" dirty="0"/>
          </a:p>
        </p:txBody>
      </p:sp>
      <p:pic>
        <p:nvPicPr>
          <p:cNvPr id="11" name="Image 2" descr="preencoded.png">    </p:cNvPr>
          <p:cNvPicPr>
            <a:picLocks noChangeAspect="1"/>
          </p:cNvPicPr>
          <p:nvPr/>
        </p:nvPicPr>
        <p:blipFill>
          <a:blip r:embed="rId3"/>
          <a:stretch>
            <a:fillRect/>
          </a:stretch>
        </p:blipFill>
        <p:spPr>
          <a:xfrm>
            <a:off x="5971032" y="1856232"/>
            <a:ext cx="292608" cy="292608"/>
          </a:xfrm>
          <a:prstGeom prst="rect">
            <a:avLst/>
          </a:prstGeom>
        </p:spPr>
      </p:pic>
      <p:sp>
        <p:nvSpPr>
          <p:cNvPr id="12" name="Shape 7"/>
          <p:cNvSpPr/>
          <p:nvPr/>
        </p:nvSpPr>
        <p:spPr>
          <a:xfrm>
            <a:off x="6309360" y="1463040"/>
            <a:ext cx="2468880" cy="1097280"/>
          </a:xfrm>
          <a:prstGeom prst="roundRect">
            <a:avLst>
              <a:gd name="adj" fmla="val 12500"/>
            </a:avLst>
          </a:prstGeom>
          <a:solidFill>
            <a:schemeClr val="bg2"/>
          </a:solidFill>
          <a:ln/>
          <a:effectLst>
            <a:outerShdw sx="100000" sy="100000" kx="0" ky="0" algn="bl" rotWithShape="0" blurRad="76200" dist="25400" dir="5400000">
              <a:srgbClr val="000000">
                <a:alpha val="12000"/>
              </a:srgbClr>
            </a:outerShdw>
          </a:effectLst>
        </p:spPr>
      </p:sp>
      <p:sp>
        <p:nvSpPr>
          <p:cNvPr id="13" name="Text 8"/>
          <p:cNvSpPr txBox="1"/>
          <p:nvPr/>
        </p:nvSpPr>
        <p:spPr>
          <a:xfrm>
            <a:off x="6309360" y="1463040"/>
            <a:ext cx="2468880" cy="1097280"/>
          </a:xfrm>
          <a:prstGeom prst="rect">
            <a:avLst/>
          </a:prstGeom>
          <a:noFill/>
          <a:ln/>
        </p:spPr>
        <p:txBody>
          <a:bodyPr wrap="square" lIns="0" tIns="0" rIns="0" bIns="0" rtlCol="0" anchor="ctr"/>
          <a:lstStyle/>
          <a:p>
            <a:pPr algn="ctr" indent="0" marL="0">
              <a:buNone/>
            </a:pPr>
            <a:r>
              <a:rPr lang="en-US" sz="2000" b="1" dirty="0">
                <a:solidFill>
                  <a:schemeClr val="tx1"/>
                </a:solidFill>
              </a:rPr>
              <a:t>Answer</a:t>
            </a:r>
            <a:endParaRPr lang="en-US" sz="2000" dirty="0"/>
          </a:p>
        </p:txBody>
      </p:sp>
      <p:pic>
        <p:nvPicPr>
          <p:cNvPr id="14" name="Image 3" descr="preencoded.png">    </p:cNvPr>
          <p:cNvPicPr>
            <a:picLocks noChangeAspect="1"/>
          </p:cNvPicPr>
          <p:nvPr/>
        </p:nvPicPr>
        <p:blipFill>
          <a:blip r:embed="rId4"/>
          <a:stretch>
            <a:fillRect/>
          </a:stretch>
        </p:blipFill>
        <p:spPr>
          <a:xfrm>
            <a:off x="3566160" y="1572768"/>
            <a:ext cx="256032" cy="256032"/>
          </a:xfrm>
          <a:prstGeom prst="rect">
            <a:avLst/>
          </a:prstGeom>
        </p:spPr>
      </p:pic>
      <p:sp>
        <p:nvSpPr>
          <p:cNvPr id="15" name="Text 9"/>
          <p:cNvSpPr txBox="1"/>
          <p:nvPr/>
        </p:nvSpPr>
        <p:spPr>
          <a:xfrm>
            <a:off x="2880360" y="2651760"/>
            <a:ext cx="3017520" cy="365760"/>
          </a:xfrm>
          <a:prstGeom prst="rect">
            <a:avLst/>
          </a:prstGeom>
          <a:noFill/>
          <a:ln/>
        </p:spPr>
        <p:txBody>
          <a:bodyPr wrap="square" lIns="0" tIns="0" rIns="0" bIns="0" rtlCol="0" anchor="ctr"/>
          <a:lstStyle/>
          <a:p>
            <a:pPr algn="ctr" indent="0" marL="0">
              <a:buNone/>
            </a:pPr>
            <a:r>
              <a:rPr lang="en-US" sz="1200" i="1" dirty="0">
                <a:solidFill>
                  <a:schemeClr val="accent3"/>
                </a:solidFill>
              </a:rPr>
              <a:t>Frozen: no training, no prompt tuning</a:t>
            </a:r>
            <a:endParaRPr lang="en-US" sz="1200" dirty="0"/>
          </a:p>
        </p:txBody>
      </p:sp>
      <p:sp>
        <p:nvSpPr>
          <p:cNvPr id="16" name="Shape 10"/>
          <p:cNvSpPr/>
          <p:nvPr/>
        </p:nvSpPr>
        <p:spPr>
          <a:xfrm>
            <a:off x="548640" y="3291840"/>
            <a:ext cx="2468880" cy="1325880"/>
          </a:xfrm>
          <a:prstGeom prst="roundRect">
            <a:avLst>
              <a:gd name="adj" fmla="val 8276"/>
            </a:avLst>
          </a:prstGeom>
          <a:solidFill>
            <a:schemeClr val="bg1"/>
          </a:solidFill>
          <a:ln w="19050">
            <a:solidFill>
              <a:srgbClr val="BDB2EC"/>
            </a:solidFill>
            <a:prstDash val="solid"/>
          </a:ln>
        </p:spPr>
      </p:sp>
      <p:sp>
        <p:nvSpPr>
          <p:cNvPr id="17" name="Text 11"/>
          <p:cNvSpPr txBox="1"/>
          <p:nvPr/>
        </p:nvSpPr>
        <p:spPr>
          <a:xfrm>
            <a:off x="685800" y="3291840"/>
            <a:ext cx="2194560" cy="1325880"/>
          </a:xfrm>
          <a:prstGeom prst="rect">
            <a:avLst/>
          </a:prstGeom>
          <a:noFill/>
          <a:ln/>
        </p:spPr>
        <p:txBody>
          <a:bodyPr wrap="square" lIns="0" tIns="0" rIns="0" bIns="0" rtlCol="0" anchor="ctr"/>
          <a:lstStyle/>
          <a:p>
            <a:pPr algn="ctr" indent="0" marL="0">
              <a:buNone/>
            </a:pPr>
            <a:r>
              <a:rPr lang="en-US" sz="1800" b="1" dirty="0">
                <a:solidFill>
                  <a:schemeClr val="tx1"/>
                </a:solidFill>
              </a:rPr>
              <a:t>MMFakeBench</a:t>
            </a:r>
            <a:endParaRPr lang="en-US" sz="1400" dirty="0"/>
          </a:p>
          <a:p>
            <a:pPr algn="ctr" indent="0" marL="0">
              <a:buNone/>
            </a:pPr>
            <a:r>
              <a:rPr lang="en-US" sz="1400" dirty="0">
                <a:solidFill>
                  <a:schemeClr val="tx1"/>
                </a:solidFill>
              </a:rPr>
              <a:t>10,000 test rows</a:t>
            </a:r>
            <a:endParaRPr lang="en-US" sz="1400" dirty="0"/>
          </a:p>
          <a:p>
            <a:pPr algn="ctr" indent="0" marL="0">
              <a:buNone/>
            </a:pPr>
            <a:r>
              <a:rPr lang="en-US" sz="1400" dirty="0">
                <a:solidFill>
                  <a:schemeClr val="tx1"/>
                </a:solidFill>
              </a:rPr>
              <a:t>4 labels</a:t>
            </a:r>
            <a:endParaRPr lang="en-US" sz="1400" dirty="0"/>
          </a:p>
        </p:txBody>
      </p:sp>
      <p:sp>
        <p:nvSpPr>
          <p:cNvPr id="18" name="Shape 12"/>
          <p:cNvSpPr/>
          <p:nvPr/>
        </p:nvSpPr>
        <p:spPr>
          <a:xfrm>
            <a:off x="3429000" y="3291840"/>
            <a:ext cx="2468880" cy="1325880"/>
          </a:xfrm>
          <a:prstGeom prst="roundRect">
            <a:avLst>
              <a:gd name="adj" fmla="val 8276"/>
            </a:avLst>
          </a:prstGeom>
          <a:solidFill>
            <a:schemeClr val="bg1"/>
          </a:solidFill>
          <a:ln w="19050">
            <a:solidFill>
              <a:srgbClr val="BDB2EC"/>
            </a:solidFill>
            <a:prstDash val="solid"/>
          </a:ln>
        </p:spPr>
      </p:sp>
      <p:sp>
        <p:nvSpPr>
          <p:cNvPr id="19" name="Text 13"/>
          <p:cNvSpPr txBox="1"/>
          <p:nvPr/>
        </p:nvSpPr>
        <p:spPr>
          <a:xfrm>
            <a:off x="3566160" y="3291840"/>
            <a:ext cx="2194560" cy="1325880"/>
          </a:xfrm>
          <a:prstGeom prst="rect">
            <a:avLst/>
          </a:prstGeom>
          <a:noFill/>
          <a:ln/>
        </p:spPr>
        <p:txBody>
          <a:bodyPr wrap="square" lIns="0" tIns="0" rIns="0" bIns="0" rtlCol="0" anchor="ctr"/>
          <a:lstStyle/>
          <a:p>
            <a:pPr algn="ctr" indent="0" marL="0">
              <a:buNone/>
            </a:pPr>
            <a:r>
              <a:rPr lang="en-US" sz="1800" b="1" dirty="0">
                <a:solidFill>
                  <a:schemeClr val="tx1"/>
                </a:solidFill>
              </a:rPr>
              <a:t>VERITE</a:t>
            </a:r>
            <a:endParaRPr lang="en-US" sz="1400" dirty="0"/>
          </a:p>
          <a:p>
            <a:pPr algn="ctr" indent="0" marL="0">
              <a:buNone/>
            </a:pPr>
            <a:r>
              <a:rPr lang="en-US" sz="1400" dirty="0">
                <a:solidFill>
                  <a:schemeClr val="tx1"/>
                </a:solidFill>
              </a:rPr>
              <a:t>1,001 rows</a:t>
            </a:r>
            <a:endParaRPr lang="en-US" sz="1400" dirty="0"/>
          </a:p>
          <a:p>
            <a:pPr algn="ctr" indent="0" marL="0">
              <a:buNone/>
            </a:pPr>
            <a:r>
              <a:rPr lang="en-US" sz="1400" dirty="0">
                <a:solidFill>
                  <a:schemeClr val="tx1"/>
                </a:solidFill>
              </a:rPr>
              <a:t>3 labels</a:t>
            </a:r>
            <a:endParaRPr lang="en-US" sz="1400" dirty="0"/>
          </a:p>
        </p:txBody>
      </p:sp>
      <p:sp>
        <p:nvSpPr>
          <p:cNvPr id="20" name="Shape 14"/>
          <p:cNvSpPr/>
          <p:nvPr/>
        </p:nvSpPr>
        <p:spPr>
          <a:xfrm>
            <a:off x="6309360" y="3291840"/>
            <a:ext cx="2468880" cy="1325880"/>
          </a:xfrm>
          <a:prstGeom prst="roundRect">
            <a:avLst>
              <a:gd name="adj" fmla="val 8276"/>
            </a:avLst>
          </a:prstGeom>
          <a:solidFill>
            <a:schemeClr val="bg1"/>
          </a:solidFill>
          <a:ln w="19050">
            <a:solidFill>
              <a:srgbClr val="BDB2EC"/>
            </a:solidFill>
            <a:prstDash val="solid"/>
          </a:ln>
        </p:spPr>
      </p:sp>
      <p:sp>
        <p:nvSpPr>
          <p:cNvPr id="21" name="Text 15"/>
          <p:cNvSpPr txBox="1"/>
          <p:nvPr/>
        </p:nvSpPr>
        <p:spPr>
          <a:xfrm>
            <a:off x="6446520" y="3291840"/>
            <a:ext cx="2194560" cy="1325880"/>
          </a:xfrm>
          <a:prstGeom prst="rect">
            <a:avLst/>
          </a:prstGeom>
          <a:noFill/>
          <a:ln/>
        </p:spPr>
        <p:txBody>
          <a:bodyPr wrap="square" lIns="0" tIns="0" rIns="0" bIns="0" rtlCol="0" anchor="ctr"/>
          <a:lstStyle/>
          <a:p>
            <a:pPr algn="ctr" indent="0" marL="0">
              <a:buNone/>
            </a:pPr>
            <a:r>
              <a:rPr lang="en-US" sz="1800" b="1" dirty="0">
                <a:solidFill>
                  <a:schemeClr val="tx1"/>
                </a:solidFill>
              </a:rPr>
              <a:t>NewsCLIPpings</a:t>
            </a:r>
            <a:endParaRPr lang="en-US" sz="1400" dirty="0"/>
          </a:p>
          <a:p>
            <a:pPr algn="ctr" indent="0" marL="0">
              <a:buNone/>
            </a:pPr>
            <a:r>
              <a:rPr lang="en-US" sz="1400" dirty="0">
                <a:solidFill>
                  <a:schemeClr val="tx1"/>
                </a:solidFill>
              </a:rPr>
              <a:t>7,024 pairs</a:t>
            </a:r>
            <a:endParaRPr lang="en-US" sz="1400" dirty="0"/>
          </a:p>
          <a:p>
            <a:pPr algn="ctr" indent="0" marL="0">
              <a:buNone/>
            </a:pPr>
            <a:r>
              <a:rPr lang="en-US" sz="1400" dirty="0">
                <a:solidFill>
                  <a:schemeClr val="tx1"/>
                </a:solidFill>
              </a:rPr>
              <a:t>2 labels</a:t>
            </a:r>
            <a:endParaRPr lang="en-US" sz="1400" dirty="0"/>
          </a:p>
        </p:txBody>
      </p:sp>
      <p:sp>
        <p:nvSpPr>
          <p:cNvPr id="22" name="Text 16"/>
          <p:cNvSpPr txBox="1"/>
          <p:nvPr/>
        </p:nvSpPr>
        <p:spPr>
          <a:xfrm>
            <a:off x="548640" y="4892040"/>
            <a:ext cx="8412480" cy="457200"/>
          </a:xfrm>
          <a:prstGeom prst="rect">
            <a:avLst/>
          </a:prstGeom>
          <a:noFill/>
          <a:ln/>
        </p:spPr>
        <p:txBody>
          <a:bodyPr wrap="square" lIns="0" tIns="0" rIns="0" bIns="0" rtlCol="0" anchor="ctr"/>
          <a:lstStyle/>
          <a:p>
            <a:pPr indent="0" marL="0">
              <a:buNone/>
            </a:pPr>
            <a:r>
              <a:rPr lang="en-US" sz="1600" b="1" dirty="0">
                <a:solidFill>
                  <a:schemeClr val="accent3"/>
                </a:solidFill>
              </a:rPr>
              <a:t>Same rows, three ways: image + text · text only · image only</a:t>
            </a:r>
            <a:endParaRPr lang="en-US" sz="1600" dirty="0"/>
          </a:p>
        </p:txBody>
      </p:sp>
      <p:sp>
        <p:nvSpPr>
          <p:cNvPr id="23" name="good to know card"/>
          <p:cNvSpPr/>
          <p:nvPr/>
        </p:nvSpPr>
        <p:spPr>
          <a:xfrm>
            <a:off x="9281160" y="1463040"/>
            <a:ext cx="2377440" cy="1371600"/>
          </a:xfrm>
          <a:prstGeom prst="roundRect">
            <a:avLst>
              <a:gd name="adj" fmla="val 8000"/>
            </a:avLst>
          </a:prstGeom>
          <a:solidFill>
            <a:schemeClr val="bg2"/>
          </a:solidFill>
          <a:ln/>
        </p:spPr>
      </p:sp>
      <p:pic>
        <p:nvPicPr>
          <p:cNvPr id="24" name="Image 4" descr="preencoded.png">    </p:cNvPr>
          <p:cNvPicPr>
            <a:picLocks noChangeAspect="1"/>
          </p:cNvPicPr>
          <p:nvPr/>
        </p:nvPicPr>
        <p:blipFill>
          <a:blip r:embed="rId5"/>
          <a:stretch>
            <a:fillRect/>
          </a:stretch>
        </p:blipFill>
        <p:spPr>
          <a:xfrm>
            <a:off x="9464040" y="1645920"/>
            <a:ext cx="237744" cy="237744"/>
          </a:xfrm>
          <a:prstGeom prst="rect">
            <a:avLst/>
          </a:prstGeom>
        </p:spPr>
      </p:pic>
      <p:sp>
        <p:nvSpPr>
          <p:cNvPr id="25" name="Text 18"/>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26" name="Text 19"/>
          <p:cNvSpPr txBox="1"/>
          <p:nvPr/>
        </p:nvSpPr>
        <p:spPr>
          <a:xfrm>
            <a:off x="9464040" y="1965960"/>
            <a:ext cx="2057400" cy="731520"/>
          </a:xfrm>
          <a:prstGeom prst="rect">
            <a:avLst/>
          </a:prstGeom>
          <a:noFill/>
          <a:ln/>
        </p:spPr>
        <p:txBody>
          <a:bodyPr wrap="square" lIns="0" tIns="0" rIns="0" bIns="0" rtlCol="0" anchor="t"/>
          <a:lstStyle/>
          <a:p>
            <a:pPr indent="0" marL="0">
              <a:buNone/>
            </a:pPr>
            <a:r>
              <a:rPr lang="en-US" sz="1200" dirty="0">
                <a:solidFill>
                  <a:schemeClr val="tx1"/>
                </a:solidFill>
              </a:rPr>
              <a:t>This is the reference point a fine-tuned model must beat later.</a:t>
            </a:r>
            <a:endParaRPr lang="en-US" sz="1200" dirty="0"/>
          </a:p>
        </p:txBody>
      </p:sp>
      <p:sp>
        <p:nvSpPr>
          <p:cNvPr id="27" name="Text 20"/>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Combined track, Rafiul Haider. LAYA-Vision checkpoint f2fe3c12, one fixed question set.</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Asked cold, it mostly guesses</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3"/>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Combined track · Rafiul Haider</a:t>
            </a:r>
            <a:endParaRPr lang="en-US" sz="1100" dirty="0"/>
          </a:p>
        </p:txBody>
      </p:sp>
      <p:graphicFrame>
        <p:nvGraphicFramePr>
          <p:cNvPr id="6" name="Chart 0" descr=""/>
          <p:cNvGraphicFramePr/>
          <p:nvPr/>
        </p:nvGraphicFramePr>
        <p:xfrm>
          <a:off x="548640" y="1325880"/>
          <a:ext cx="5120640" cy="457200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943600" y="1463040"/>
            <a:ext cx="3017520" cy="1965960"/>
          </a:xfrm>
          <a:prstGeom prst="roundRect">
            <a:avLst>
              <a:gd name="adj" fmla="val 6977"/>
            </a:avLst>
          </a:prstGeom>
          <a:solidFill>
            <a:schemeClr val="bg2"/>
          </a:solidFill>
          <a:ln/>
        </p:spPr>
      </p:sp>
      <p:sp>
        <p:nvSpPr>
          <p:cNvPr id="8" name="Text 4"/>
          <p:cNvSpPr txBox="1"/>
          <p:nvPr/>
        </p:nvSpPr>
        <p:spPr>
          <a:xfrm>
            <a:off x="6172200" y="1600200"/>
            <a:ext cx="265176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91.5%</a:t>
            </a:r>
            <a:endParaRPr lang="en-US" sz="3600" dirty="0"/>
          </a:p>
        </p:txBody>
      </p:sp>
      <p:sp>
        <p:nvSpPr>
          <p:cNvPr id="9" name="Text 5"/>
          <p:cNvSpPr txBox="1"/>
          <p:nvPr/>
        </p:nvSpPr>
        <p:spPr>
          <a:xfrm>
            <a:off x="6172200" y="2331720"/>
            <a:ext cx="2651760" cy="1005840"/>
          </a:xfrm>
          <a:prstGeom prst="rect">
            <a:avLst/>
          </a:prstGeom>
          <a:noFill/>
          <a:ln/>
        </p:spPr>
        <p:txBody>
          <a:bodyPr wrap="square" lIns="0" tIns="0" rIns="0" bIns="0" rtlCol="0" anchor="t"/>
          <a:lstStyle/>
          <a:p>
            <a:pPr indent="0" marL="0">
              <a:buNone/>
            </a:pPr>
            <a:r>
              <a:rPr lang="en-US" sz="1300" dirty="0">
                <a:solidFill>
                  <a:schemeClr val="tx1"/>
                </a:solidFill>
              </a:rPr>
              <a:t>of MMFakeBench labels guessed from source names alone, without seeing the image or text</a:t>
            </a:r>
            <a:endParaRPr lang="en-US" sz="1300" dirty="0"/>
          </a:p>
        </p:txBody>
      </p:sp>
      <p:sp>
        <p:nvSpPr>
          <p:cNvPr id="10" name="Shape 6"/>
          <p:cNvSpPr/>
          <p:nvPr/>
        </p:nvSpPr>
        <p:spPr>
          <a:xfrm>
            <a:off x="5943600" y="3703320"/>
            <a:ext cx="3017520" cy="1965960"/>
          </a:xfrm>
          <a:prstGeom prst="roundRect">
            <a:avLst>
              <a:gd name="adj" fmla="val 6977"/>
            </a:avLst>
          </a:prstGeom>
          <a:solidFill>
            <a:schemeClr val="bg2"/>
          </a:solidFill>
          <a:ln/>
        </p:spPr>
      </p:sp>
      <p:sp>
        <p:nvSpPr>
          <p:cNvPr id="11" name="Text 7"/>
          <p:cNvSpPr txBox="1"/>
          <p:nvPr/>
        </p:nvSpPr>
        <p:spPr>
          <a:xfrm>
            <a:off x="6172200" y="3840480"/>
            <a:ext cx="265176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−1.5 pts</a:t>
            </a:r>
            <a:endParaRPr lang="en-US" sz="3600" dirty="0"/>
          </a:p>
        </p:txBody>
      </p:sp>
      <p:sp>
        <p:nvSpPr>
          <p:cNvPr id="12" name="Text 8"/>
          <p:cNvSpPr txBox="1"/>
          <p:nvPr/>
        </p:nvSpPr>
        <p:spPr>
          <a:xfrm>
            <a:off x="6172200" y="4572000"/>
            <a:ext cx="2651760" cy="1005840"/>
          </a:xfrm>
          <a:prstGeom prst="rect">
            <a:avLst/>
          </a:prstGeom>
          <a:noFill/>
          <a:ln/>
        </p:spPr>
        <p:txBody>
          <a:bodyPr wrap="square" lIns="0" tIns="0" rIns="0" bIns="0" rtlCol="0" anchor="t"/>
          <a:lstStyle/>
          <a:p>
            <a:pPr indent="0" marL="0">
              <a:buNone/>
            </a:pPr>
            <a:r>
              <a:rPr lang="en-US" sz="1300" dirty="0">
                <a:solidFill>
                  <a:schemeClr val="tx1"/>
                </a:solidFill>
              </a:rPr>
              <a:t>average change when the model also sees the image (from −18 to +18 by source)</a:t>
            </a:r>
            <a:endParaRPr lang="en-US" sz="1300" dirty="0"/>
          </a:p>
        </p:txBody>
      </p:sp>
      <p:sp>
        <p:nvSpPr>
          <p:cNvPr id="13" name="good to know card"/>
          <p:cNvSpPr/>
          <p:nvPr/>
        </p:nvSpPr>
        <p:spPr>
          <a:xfrm>
            <a:off x="9281160" y="1463040"/>
            <a:ext cx="2377440" cy="1920240"/>
          </a:xfrm>
          <a:prstGeom prst="roundRect">
            <a:avLst>
              <a:gd name="adj" fmla="val 5714"/>
            </a:avLst>
          </a:prstGeom>
          <a:solidFill>
            <a:schemeClr val="bg2"/>
          </a:solidFill>
          <a:ln/>
        </p:spPr>
      </p:sp>
      <p:pic>
        <p:nvPicPr>
          <p:cNvPr id="14" name="Image 1" descr="preencoded.png">    </p:cNvPr>
          <p:cNvPicPr>
            <a:picLocks noChangeAspect="1"/>
          </p:cNvPicPr>
          <p:nvPr/>
        </p:nvPicPr>
        <p:blipFill>
          <a:blip r:embed="rId3"/>
          <a:stretch>
            <a:fillRect/>
          </a:stretch>
        </p:blipFill>
        <p:spPr>
          <a:xfrm>
            <a:off x="9464040" y="1645920"/>
            <a:ext cx="237744" cy="237744"/>
          </a:xfrm>
          <a:prstGeom prst="rect">
            <a:avLst/>
          </a:prstGeom>
        </p:spPr>
      </p:pic>
      <p:sp>
        <p:nvSpPr>
          <p:cNvPr id="15" name="Text 10"/>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16" name="Text 11"/>
          <p:cNvSpPr txBox="1"/>
          <p:nvPr/>
        </p:nvSpPr>
        <p:spPr>
          <a:xfrm>
            <a:off x="9464040" y="1965960"/>
            <a:ext cx="2057400" cy="1280160"/>
          </a:xfrm>
          <a:prstGeom prst="rect">
            <a:avLst/>
          </a:prstGeom>
          <a:noFill/>
          <a:ln/>
        </p:spPr>
        <p:txBody>
          <a:bodyPr wrap="square" lIns="0" tIns="0" rIns="0" bIns="0" rtlCol="0" anchor="t"/>
          <a:lstStyle/>
          <a:p>
            <a:pPr indent="0" marL="0">
              <a:buNone/>
            </a:pPr>
            <a:r>
              <a:rPr lang="en-US" sz="1200" dirty="0">
                <a:solidFill>
                  <a:schemeClr val="tx1"/>
                </a:solidFill>
              </a:rPr>
              <a:t>The MMFakeBench test split had been looked at before, so its numbers are a check-up, not a final exam.</a:t>
            </a:r>
            <a:endParaRPr lang="en-US" sz="1200" dirty="0"/>
          </a:p>
        </p:txBody>
      </p:sp>
      <p:sp>
        <p:nvSpPr>
          <p:cNvPr id="17" name="Text 12"/>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Combined track, Rafiul Haider. n = 9,999 · 1,001 · 7,024. Floors: always-majority, 1 in 3, coin flip.</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signal is there, just unused</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3"/>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Combined track · Rafiul Haider</a:t>
            </a:r>
            <a:endParaRPr lang="en-US" sz="1100" dirty="0"/>
          </a:p>
        </p:txBody>
      </p:sp>
      <p:graphicFrame>
        <p:nvGraphicFramePr>
          <p:cNvPr id="6" name="Chart 0" descr=""/>
          <p:cNvGraphicFramePr/>
          <p:nvPr/>
        </p:nvGraphicFramePr>
        <p:xfrm>
          <a:off x="548640" y="1325880"/>
          <a:ext cx="5120640" cy="457200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943600" y="1463040"/>
            <a:ext cx="3017520" cy="2377440"/>
          </a:xfrm>
          <a:prstGeom prst="roundRect">
            <a:avLst>
              <a:gd name="adj" fmla="val 5769"/>
            </a:avLst>
          </a:prstGeom>
          <a:solidFill>
            <a:schemeClr val="accent3"/>
          </a:solidFill>
          <a:ln/>
          <a:effectLst>
            <a:outerShdw sx="100000" sy="100000" kx="0" ky="0" algn="bl" rotWithShape="0" blurRad="76200" dist="25400" dir="5400000">
              <a:srgbClr val="000000">
                <a:alpha val="12000"/>
              </a:srgbClr>
            </a:outerShdw>
          </a:effectLst>
        </p:spPr>
      </p:sp>
      <p:sp>
        <p:nvSpPr>
          <p:cNvPr id="8" name="Text 4"/>
          <p:cNvSpPr txBox="1"/>
          <p:nvPr/>
        </p:nvSpPr>
        <p:spPr>
          <a:xfrm>
            <a:off x="6172200" y="1645920"/>
            <a:ext cx="2651760" cy="7772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+6.2 pts</a:t>
            </a:r>
            <a:endParaRPr lang="en-US" sz="4000" dirty="0"/>
          </a:p>
        </p:txBody>
      </p:sp>
      <p:sp>
        <p:nvSpPr>
          <p:cNvPr id="9" name="Text 5"/>
          <p:cNvSpPr txBox="1"/>
          <p:nvPr/>
        </p:nvSpPr>
        <p:spPr>
          <a:xfrm>
            <a:off x="6172200" y="2468880"/>
            <a:ext cx="2651760" cy="1188720"/>
          </a:xfrm>
          <a:prstGeom prst="rect">
            <a:avLst/>
          </a:prstGeom>
          <a:noFill/>
          <a:ln/>
        </p:spPr>
        <p:txBody>
          <a:bodyPr wrap="square" lIns="0" tIns="0" rIns="0" bIns="0" rtlCol="0" anchor="t"/>
          <a:lstStyle/>
          <a:p>
            <a:pPr indent="0" marL="0">
              <a:buNone/>
            </a:pPr>
            <a:r>
              <a:rPr lang="en-US" sz="1400" dirty="0">
                <a:solidFill>
                  <a:schemeClr val="bg1"/>
                </a:solidFill>
              </a:rPr>
              <a:t>on 7,264 sealed test pairs, read once (95% range +4.8 to +7.7)</a:t>
            </a:r>
            <a:endParaRPr lang="en-US" sz="1400" dirty="0"/>
          </a:p>
        </p:txBody>
      </p:sp>
      <p:pic>
        <p:nvPicPr>
          <p:cNvPr id="10" name="Image 1" descr="preencoded.png">    </p:cNvPr>
          <p:cNvPicPr>
            <a:picLocks noChangeAspect="1"/>
          </p:cNvPicPr>
          <p:nvPr/>
        </p:nvPicPr>
        <p:blipFill>
          <a:blip r:embed="rId3"/>
          <a:stretch>
            <a:fillRect/>
          </a:stretch>
        </p:blipFill>
        <p:spPr>
          <a:xfrm>
            <a:off x="6035040" y="4160520"/>
            <a:ext cx="365760" cy="365760"/>
          </a:xfrm>
          <a:prstGeom prst="rect">
            <a:avLst/>
          </a:prstGeom>
        </p:spPr>
      </p:pic>
      <p:sp>
        <p:nvSpPr>
          <p:cNvPr id="11" name="Text 6"/>
          <p:cNvSpPr txBox="1"/>
          <p:nvPr/>
        </p:nvSpPr>
        <p:spPr>
          <a:xfrm>
            <a:off x="6492240" y="4069080"/>
            <a:ext cx="2514600" cy="1463040"/>
          </a:xfrm>
          <a:prstGeom prst="rect">
            <a:avLst/>
          </a:prstGeom>
          <a:noFill/>
          <a:ln/>
        </p:spPr>
        <p:txBody>
          <a:bodyPr wrap="square" lIns="0" tIns="0" rIns="0" bIns="0" rtlCol="0" anchor="t"/>
          <a:lstStyle/>
          <a:p>
            <a:pPr indent="0" marL="0">
              <a:buNone/>
            </a:pPr>
            <a:r>
              <a:rPr lang="en-US" sz="1300" dirty="0">
                <a:solidFill>
                  <a:schemeClr val="tx1"/>
                </a:solidFill>
              </a:rPr>
              <a:t>The helper learns from 71,072 NewsCLIPpings examples on top of the frozen model; the model itself never changes.</a:t>
            </a:r>
            <a:endParaRPr lang="en-US" sz="1300" dirty="0"/>
          </a:p>
        </p:txBody>
      </p:sp>
      <p:sp>
        <p:nvSpPr>
          <p:cNvPr id="12" name="good to know card"/>
          <p:cNvSpPr/>
          <p:nvPr/>
        </p:nvSpPr>
        <p:spPr>
          <a:xfrm>
            <a:off x="9281160" y="1463040"/>
            <a:ext cx="2377440" cy="1737360"/>
          </a:xfrm>
          <a:prstGeom prst="roundRect">
            <a:avLst>
              <a:gd name="adj" fmla="val 6316"/>
            </a:avLst>
          </a:prstGeom>
          <a:solidFill>
            <a:schemeClr val="bg2"/>
          </a:solidFill>
          <a:ln/>
        </p:spPr>
      </p:sp>
      <p:pic>
        <p:nvPicPr>
          <p:cNvPr id="13" name="Image 2" descr="preencoded.png">    </p:cNvPr>
          <p:cNvPicPr>
            <a:picLocks noChangeAspect="1"/>
          </p:cNvPicPr>
          <p:nvPr/>
        </p:nvPicPr>
        <p:blipFill>
          <a:blip r:embed="rId4"/>
          <a:stretch>
            <a:fillRect/>
          </a:stretch>
        </p:blipFill>
        <p:spPr>
          <a:xfrm>
            <a:off x="9464040" y="1645920"/>
            <a:ext cx="237744" cy="237744"/>
          </a:xfrm>
          <a:prstGeom prst="rect">
            <a:avLst/>
          </a:prstGeom>
        </p:spPr>
      </p:pic>
      <p:sp>
        <p:nvSpPr>
          <p:cNvPr id="14" name="Text 8"/>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15" name="Text 9"/>
          <p:cNvSpPr txBox="1"/>
          <p:nvPr/>
        </p:nvSpPr>
        <p:spPr>
          <a:xfrm>
            <a:off x="9464040" y="1965960"/>
            <a:ext cx="2057400" cy="1097280"/>
          </a:xfrm>
          <a:prstGeom prst="rect">
            <a:avLst/>
          </a:prstGeom>
          <a:noFill/>
          <a:ln/>
        </p:spPr>
        <p:txBody>
          <a:bodyPr wrap="square" lIns="0" tIns="0" rIns="0" bIns="0" rtlCol="0" anchor="t"/>
          <a:lstStyle/>
          <a:p>
            <a:pPr indent="0" marL="0">
              <a:buNone/>
            </a:pPr>
            <a:r>
              <a:rPr lang="en-US" sz="1200" dirty="0">
                <a:solidFill>
                  <a:schemeClr val="tx1"/>
                </a:solidFill>
              </a:rPr>
              <a:t>On VERITE the gain (+4.4 pts) sits inside its 95% range of zero, so it may be luck.</a:t>
            </a:r>
            <a:endParaRPr lang="en-US" sz="1200" dirty="0"/>
          </a:p>
        </p:txBody>
      </p:sp>
      <p:sp>
        <p:nvSpPr>
          <p:cNvPr id="16" name="Text 10"/>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Combined track, Rafiul Haider. Helper = linear probe on frozen 576-d LAYA-Vision features.</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the three tracks teach together</a:t>
            </a:r>
            <a:endParaRPr lang="en-US" sz="3200" dirty="0"/>
          </a:p>
        </p:txBody>
      </p:sp>
      <p:sp>
        <p:nvSpPr>
          <p:cNvPr id="3" name="Shape 1"/>
          <p:cNvSpPr/>
          <p:nvPr/>
        </p:nvSpPr>
        <p:spPr>
          <a:xfrm>
            <a:off x="1874520" y="1371600"/>
            <a:ext cx="914400" cy="91440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2103120" y="1600200"/>
            <a:ext cx="457200" cy="457200"/>
          </a:xfrm>
          <a:prstGeom prst="rect">
            <a:avLst/>
          </a:prstGeom>
        </p:spPr>
      </p:pic>
      <p:sp>
        <p:nvSpPr>
          <p:cNvPr id="5" name="Text 2"/>
          <p:cNvSpPr txBox="1"/>
          <p:nvPr/>
        </p:nvSpPr>
        <p:spPr>
          <a:xfrm>
            <a:off x="548640" y="2377440"/>
            <a:ext cx="3566160" cy="411480"/>
          </a:xfrm>
          <a:prstGeom prst="rect">
            <a:avLst/>
          </a:prstGeom>
          <a:noFill/>
          <a:ln/>
        </p:spPr>
        <p:txBody>
          <a:bodyPr wrap="square" lIns="0" tIns="0" rIns="0" bIns="0" rtlCol="0" anchor="ctr"/>
          <a:lstStyle/>
          <a:p>
            <a:pPr algn="ctr" indent="0" marL="0">
              <a:buNone/>
            </a:pPr>
            <a:r>
              <a:rPr lang="en-US" sz="1800" b="1" dirty="0">
                <a:solidFill>
                  <a:schemeClr val="accent1"/>
                </a:solidFill>
              </a:rPr>
              <a:t>Text track</a:t>
            </a:r>
            <a:endParaRPr lang="en-US" sz="1800" dirty="0"/>
          </a:p>
        </p:txBody>
      </p:sp>
      <p:sp>
        <p:nvSpPr>
          <p:cNvPr id="6" name="Shape 3"/>
          <p:cNvSpPr/>
          <p:nvPr/>
        </p:nvSpPr>
        <p:spPr>
          <a:xfrm>
            <a:off x="548640" y="2880360"/>
            <a:ext cx="3520440" cy="1097280"/>
          </a:xfrm>
          <a:prstGeom prst="roundRect">
            <a:avLst>
              <a:gd name="adj" fmla="val 10000"/>
            </a:avLst>
          </a:prstGeom>
          <a:solidFill>
            <a:schemeClr val="bg2"/>
          </a:solidFill>
          <a:ln/>
        </p:spPr>
      </p:sp>
      <p:sp>
        <p:nvSpPr>
          <p:cNvPr id="7" name="Text 4"/>
          <p:cNvSpPr txBox="1"/>
          <p:nvPr/>
        </p:nvSpPr>
        <p:spPr>
          <a:xfrm>
            <a:off x="731520" y="2880360"/>
            <a:ext cx="3154680" cy="1097280"/>
          </a:xfrm>
          <a:prstGeom prst="rect">
            <a:avLst/>
          </a:prstGeom>
          <a:noFill/>
          <a:ln/>
        </p:spPr>
        <p:txBody>
          <a:bodyPr wrap="square" lIns="0" tIns="0" rIns="0" bIns="0" rtlCol="0" anchor="ctr"/>
          <a:lstStyle/>
          <a:p>
            <a:pPr algn="ctr" indent="0" marL="0">
              <a:buNone/>
            </a:pPr>
            <a:r>
              <a:rPr lang="en-US" sz="1600" b="1" dirty="0">
                <a:solidFill>
                  <a:schemeClr val="tx1"/>
                </a:solidFill>
              </a:rPr>
              <a:t>Strong signal from words</a:t>
            </a:r>
            <a:endParaRPr lang="en-US" sz="1600" dirty="0"/>
          </a:p>
        </p:txBody>
      </p:sp>
      <p:sp>
        <p:nvSpPr>
          <p:cNvPr id="8" name="Shape 5"/>
          <p:cNvSpPr/>
          <p:nvPr/>
        </p:nvSpPr>
        <p:spPr>
          <a:xfrm>
            <a:off x="548640" y="4114800"/>
            <a:ext cx="3520440" cy="1097280"/>
          </a:xfrm>
          <a:prstGeom prst="roundRect">
            <a:avLst>
              <a:gd name="adj" fmla="val 10000"/>
            </a:avLst>
          </a:prstGeom>
          <a:solidFill>
            <a:schemeClr val="bg1"/>
          </a:solidFill>
          <a:ln w="12700">
            <a:solidFill>
              <a:srgbClr val="E3E7ED"/>
            </a:solidFill>
            <a:prstDash val="solid"/>
          </a:ln>
        </p:spPr>
      </p:sp>
      <p:sp>
        <p:nvSpPr>
          <p:cNvPr id="9" name="Text 6"/>
          <p:cNvSpPr txBox="1"/>
          <p:nvPr/>
        </p:nvSpPr>
        <p:spPr>
          <a:xfrm>
            <a:off x="731520" y="4114800"/>
            <a:ext cx="3154680" cy="1097280"/>
          </a:xfrm>
          <a:prstGeom prst="rect">
            <a:avLst/>
          </a:prstGeom>
          <a:noFill/>
          <a:ln/>
        </p:spPr>
        <p:txBody>
          <a:bodyPr wrap="square" lIns="0" tIns="0" rIns="0" bIns="0" rtlCol="0" anchor="ctr"/>
          <a:lstStyle/>
          <a:p>
            <a:pPr algn="ctr" indent="0" marL="0">
              <a:buNone/>
            </a:pPr>
            <a:r>
              <a:rPr lang="en-US" sz="1500" dirty="0">
                <a:solidFill>
                  <a:schemeClr val="tx1"/>
                </a:solidFill>
              </a:rPr>
              <a:t>Part of it is outlet style ("reuters")</a:t>
            </a:r>
            <a:endParaRPr lang="en-US" sz="1500" dirty="0"/>
          </a:p>
        </p:txBody>
      </p:sp>
      <p:sp>
        <p:nvSpPr>
          <p:cNvPr id="10" name="Shape 7"/>
          <p:cNvSpPr/>
          <p:nvPr/>
        </p:nvSpPr>
        <p:spPr>
          <a:xfrm>
            <a:off x="5669280" y="1371600"/>
            <a:ext cx="914400" cy="91440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5897880" y="1600200"/>
            <a:ext cx="457200" cy="457200"/>
          </a:xfrm>
          <a:prstGeom prst="rect">
            <a:avLst/>
          </a:prstGeom>
        </p:spPr>
      </p:pic>
      <p:sp>
        <p:nvSpPr>
          <p:cNvPr id="12" name="Text 8"/>
          <p:cNvSpPr txBox="1"/>
          <p:nvPr/>
        </p:nvSpPr>
        <p:spPr>
          <a:xfrm>
            <a:off x="4343400" y="2377440"/>
            <a:ext cx="3566160" cy="411480"/>
          </a:xfrm>
          <a:prstGeom prst="rect">
            <a:avLst/>
          </a:prstGeom>
          <a:noFill/>
          <a:ln/>
        </p:spPr>
        <p:txBody>
          <a:bodyPr wrap="square" lIns="0" tIns="0" rIns="0" bIns="0" rtlCol="0" anchor="ctr"/>
          <a:lstStyle/>
          <a:p>
            <a:pPr algn="ctr" indent="0" marL="0">
              <a:buNone/>
            </a:pPr>
            <a:r>
              <a:rPr lang="en-US" sz="1800" b="1" dirty="0">
                <a:solidFill>
                  <a:schemeClr val="accent2"/>
                </a:solidFill>
              </a:rPr>
              <a:t>Image track</a:t>
            </a:r>
            <a:endParaRPr lang="en-US" sz="1800" dirty="0"/>
          </a:p>
        </p:txBody>
      </p:sp>
      <p:sp>
        <p:nvSpPr>
          <p:cNvPr id="13" name="Shape 9"/>
          <p:cNvSpPr/>
          <p:nvPr/>
        </p:nvSpPr>
        <p:spPr>
          <a:xfrm>
            <a:off x="4343400" y="2880360"/>
            <a:ext cx="3520440" cy="1097280"/>
          </a:xfrm>
          <a:prstGeom prst="roundRect">
            <a:avLst>
              <a:gd name="adj" fmla="val 10000"/>
            </a:avLst>
          </a:prstGeom>
          <a:solidFill>
            <a:schemeClr val="bg2"/>
          </a:solidFill>
          <a:ln/>
        </p:spPr>
      </p:sp>
      <p:sp>
        <p:nvSpPr>
          <p:cNvPr id="14" name="Text 10"/>
          <p:cNvSpPr txBox="1"/>
          <p:nvPr/>
        </p:nvSpPr>
        <p:spPr>
          <a:xfrm>
            <a:off x="4526280" y="2880360"/>
            <a:ext cx="3154680" cy="1097280"/>
          </a:xfrm>
          <a:prstGeom prst="rect">
            <a:avLst/>
          </a:prstGeom>
          <a:noFill/>
          <a:ln/>
        </p:spPr>
        <p:txBody>
          <a:bodyPr wrap="square" lIns="0" tIns="0" rIns="0" bIns="0" rtlCol="0" anchor="ctr"/>
          <a:lstStyle/>
          <a:p>
            <a:pPr algn="ctr" indent="0" marL="0">
              <a:buNone/>
            </a:pPr>
            <a:r>
              <a:rPr lang="en-US" sz="1600" b="1" dirty="0">
                <a:solidFill>
                  <a:schemeClr val="tx1"/>
                </a:solidFill>
              </a:rPr>
              <a:t>Strong on its own benchmark</a:t>
            </a:r>
            <a:endParaRPr lang="en-US" sz="1600" dirty="0"/>
          </a:p>
        </p:txBody>
      </p:sp>
      <p:sp>
        <p:nvSpPr>
          <p:cNvPr id="15" name="Shape 11"/>
          <p:cNvSpPr/>
          <p:nvPr/>
        </p:nvSpPr>
        <p:spPr>
          <a:xfrm>
            <a:off x="4343400" y="4114800"/>
            <a:ext cx="3520440" cy="1097280"/>
          </a:xfrm>
          <a:prstGeom prst="roundRect">
            <a:avLst>
              <a:gd name="adj" fmla="val 10000"/>
            </a:avLst>
          </a:prstGeom>
          <a:solidFill>
            <a:schemeClr val="bg1"/>
          </a:solidFill>
          <a:ln w="12700">
            <a:solidFill>
              <a:srgbClr val="E3E7ED"/>
            </a:solidFill>
            <a:prstDash val="solid"/>
          </a:ln>
        </p:spPr>
      </p:sp>
      <p:sp>
        <p:nvSpPr>
          <p:cNvPr id="16" name="Text 12"/>
          <p:cNvSpPr txBox="1"/>
          <p:nvPr/>
        </p:nvSpPr>
        <p:spPr>
          <a:xfrm>
            <a:off x="4526280" y="4114800"/>
            <a:ext cx="3154680" cy="1097280"/>
          </a:xfrm>
          <a:prstGeom prst="rect">
            <a:avLst/>
          </a:prstGeom>
          <a:noFill/>
          <a:ln/>
        </p:spPr>
        <p:txBody>
          <a:bodyPr wrap="square" lIns="0" tIns="0" rIns="0" bIns="0" rtlCol="0" anchor="ctr"/>
          <a:lstStyle/>
          <a:p>
            <a:pPr algn="ctr" indent="0" marL="0">
              <a:buNone/>
            </a:pPr>
            <a:r>
              <a:rPr lang="en-US" sz="1500" dirty="0">
                <a:solidFill>
                  <a:schemeClr val="tx1"/>
                </a:solidFill>
              </a:rPr>
              <a:t>Mild blur costs about 11 points</a:t>
            </a:r>
            <a:endParaRPr lang="en-US" sz="1500" dirty="0"/>
          </a:p>
        </p:txBody>
      </p:sp>
      <p:sp>
        <p:nvSpPr>
          <p:cNvPr id="17" name="Shape 13"/>
          <p:cNvSpPr/>
          <p:nvPr/>
        </p:nvSpPr>
        <p:spPr>
          <a:xfrm>
            <a:off x="9464040" y="1371600"/>
            <a:ext cx="914400" cy="914400"/>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9692640" y="1600200"/>
            <a:ext cx="457200" cy="457200"/>
          </a:xfrm>
          <a:prstGeom prst="rect">
            <a:avLst/>
          </a:prstGeom>
        </p:spPr>
      </p:pic>
      <p:sp>
        <p:nvSpPr>
          <p:cNvPr id="19" name="Text 14"/>
          <p:cNvSpPr txBox="1"/>
          <p:nvPr/>
        </p:nvSpPr>
        <p:spPr>
          <a:xfrm>
            <a:off x="8138160" y="2377440"/>
            <a:ext cx="3566160" cy="411480"/>
          </a:xfrm>
          <a:prstGeom prst="rect">
            <a:avLst/>
          </a:prstGeom>
          <a:noFill/>
          <a:ln/>
        </p:spPr>
        <p:txBody>
          <a:bodyPr wrap="square" lIns="0" tIns="0" rIns="0" bIns="0" rtlCol="0" anchor="ctr"/>
          <a:lstStyle/>
          <a:p>
            <a:pPr algn="ctr" indent="0" marL="0">
              <a:buNone/>
            </a:pPr>
            <a:r>
              <a:rPr lang="en-US" sz="1800" b="1" dirty="0">
                <a:solidFill>
                  <a:schemeClr val="accent3"/>
                </a:solidFill>
              </a:rPr>
              <a:t>Combined track</a:t>
            </a:r>
            <a:endParaRPr lang="en-US" sz="1800" dirty="0"/>
          </a:p>
        </p:txBody>
      </p:sp>
      <p:sp>
        <p:nvSpPr>
          <p:cNvPr id="20" name="Shape 15"/>
          <p:cNvSpPr/>
          <p:nvPr/>
        </p:nvSpPr>
        <p:spPr>
          <a:xfrm>
            <a:off x="8138160" y="2880360"/>
            <a:ext cx="3520440" cy="1097280"/>
          </a:xfrm>
          <a:prstGeom prst="roundRect">
            <a:avLst>
              <a:gd name="adj" fmla="val 10000"/>
            </a:avLst>
          </a:prstGeom>
          <a:solidFill>
            <a:schemeClr val="bg2"/>
          </a:solidFill>
          <a:ln/>
        </p:spPr>
      </p:sp>
      <p:sp>
        <p:nvSpPr>
          <p:cNvPr id="21" name="Text 16"/>
          <p:cNvSpPr txBox="1"/>
          <p:nvPr/>
        </p:nvSpPr>
        <p:spPr>
          <a:xfrm>
            <a:off x="8321040" y="2880360"/>
            <a:ext cx="3154680" cy="1097280"/>
          </a:xfrm>
          <a:prstGeom prst="rect">
            <a:avLst/>
          </a:prstGeom>
          <a:noFill/>
          <a:ln/>
        </p:spPr>
        <p:txBody>
          <a:bodyPr wrap="square" lIns="0" tIns="0" rIns="0" bIns="0" rtlCol="0" anchor="ctr"/>
          <a:lstStyle/>
          <a:p>
            <a:pPr algn="ctr" indent="0" marL="0">
              <a:buNone/>
            </a:pPr>
            <a:r>
              <a:rPr lang="en-US" sz="1600" b="1" dirty="0">
                <a:solidFill>
                  <a:schemeClr val="tx1"/>
                </a:solidFill>
              </a:rPr>
              <a:t>The signal sits inside the model</a:t>
            </a:r>
            <a:endParaRPr lang="en-US" sz="1600" dirty="0"/>
          </a:p>
        </p:txBody>
      </p:sp>
      <p:sp>
        <p:nvSpPr>
          <p:cNvPr id="22" name="Shape 17"/>
          <p:cNvSpPr/>
          <p:nvPr/>
        </p:nvSpPr>
        <p:spPr>
          <a:xfrm>
            <a:off x="8138160" y="4114800"/>
            <a:ext cx="3520440" cy="1097280"/>
          </a:xfrm>
          <a:prstGeom prst="roundRect">
            <a:avLst>
              <a:gd name="adj" fmla="val 10000"/>
            </a:avLst>
          </a:prstGeom>
          <a:solidFill>
            <a:schemeClr val="bg1"/>
          </a:solidFill>
          <a:ln w="12700">
            <a:solidFill>
              <a:srgbClr val="E3E7ED"/>
            </a:solidFill>
            <a:prstDash val="solid"/>
          </a:ln>
        </p:spPr>
      </p:sp>
      <p:sp>
        <p:nvSpPr>
          <p:cNvPr id="23" name="Text 18"/>
          <p:cNvSpPr txBox="1"/>
          <p:nvPr/>
        </p:nvSpPr>
        <p:spPr>
          <a:xfrm>
            <a:off x="8321040" y="4114800"/>
            <a:ext cx="3154680" cy="1097280"/>
          </a:xfrm>
          <a:prstGeom prst="rect">
            <a:avLst/>
          </a:prstGeom>
          <a:noFill/>
          <a:ln/>
        </p:spPr>
        <p:txBody>
          <a:bodyPr wrap="square" lIns="0" tIns="0" rIns="0" bIns="0" rtlCol="0" anchor="ctr"/>
          <a:lstStyle/>
          <a:p>
            <a:pPr algn="ctr" indent="0" marL="0">
              <a:buNone/>
            </a:pPr>
            <a:r>
              <a:rPr lang="en-US" sz="1500" dirty="0">
                <a:solidFill>
                  <a:schemeClr val="tx1"/>
                </a:solidFill>
              </a:rPr>
              <a:t>Source names give MMFakeBench labels away</a:t>
            </a:r>
            <a:endParaRPr lang="en-US" sz="1500" dirty="0"/>
          </a:p>
        </p:txBody>
      </p:sp>
      <p:sp>
        <p:nvSpPr>
          <p:cNvPr id="24" name="Text 19"/>
          <p:cNvSpPr txBox="1"/>
          <p:nvPr/>
        </p:nvSpPr>
        <p:spPr>
          <a:xfrm>
            <a:off x="548640" y="5440680"/>
            <a:ext cx="11064240" cy="502920"/>
          </a:xfrm>
          <a:prstGeom prst="rect">
            <a:avLst/>
          </a:prstGeom>
          <a:noFill/>
          <a:ln/>
        </p:spPr>
        <p:txBody>
          <a:bodyPr wrap="square" lIns="0" tIns="0" rIns="0" bIns="0" rtlCol="0" anchor="ctr"/>
          <a:lstStyle/>
          <a:p>
            <a:pPr algn="ctr" indent="0" marL="0">
              <a:buNone/>
            </a:pPr>
            <a:r>
              <a:rPr lang="en-US" sz="2000" b="1" i="1" dirty="0">
                <a:solidFill>
                  <a:schemeClr val="tx2"/>
                </a:solidFill>
                <a:latin typeface="Cambria" pitchFamily="34" charset="0"/>
                <a:ea typeface="Cambria" pitchFamily="34" charset="-122"/>
                <a:cs typeface="Cambria" pitchFamily="34" charset="-120"/>
              </a:rPr>
              <a:t>Every benchmark hides a shortcut. Finding it is part of the result.</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Road to the final</a:t>
            </a:r>
            <a:endParaRPr lang="en-US" sz="3200" dirty="0"/>
          </a:p>
        </p:txBody>
      </p:sp>
      <p:sp>
        <p:nvSpPr>
          <p:cNvPr id="3" name="Shape 1"/>
          <p:cNvSpPr/>
          <p:nvPr/>
        </p:nvSpPr>
        <p:spPr>
          <a:xfrm>
            <a:off x="548640" y="1508760"/>
            <a:ext cx="731520" cy="73152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731520" y="1691640"/>
            <a:ext cx="365760" cy="365760"/>
          </a:xfrm>
          <a:prstGeom prst="rect">
            <a:avLst/>
          </a:prstGeom>
        </p:spPr>
      </p:pic>
      <p:sp>
        <p:nvSpPr>
          <p:cNvPr id="5" name="Text 2"/>
          <p:cNvSpPr txBox="1"/>
          <p:nvPr/>
        </p:nvSpPr>
        <p:spPr>
          <a:xfrm>
            <a:off x="1417320" y="1508760"/>
            <a:ext cx="1554480" cy="731520"/>
          </a:xfrm>
          <a:prstGeom prst="rect">
            <a:avLst/>
          </a:prstGeom>
          <a:noFill/>
          <a:ln/>
        </p:spPr>
        <p:txBody>
          <a:bodyPr wrap="square" lIns="0" tIns="0" rIns="0" bIns="0" rtlCol="0" anchor="ctr"/>
          <a:lstStyle/>
          <a:p>
            <a:pPr indent="0" marL="0">
              <a:buNone/>
            </a:pPr>
            <a:r>
              <a:rPr lang="en-US" sz="1500" b="1" dirty="0">
                <a:solidFill>
                  <a:schemeClr val="accent1"/>
                </a:solidFill>
              </a:rPr>
              <a:t>Text track</a:t>
            </a:r>
            <a:endParaRPr lang="en-US" sz="1500" dirty="0"/>
          </a:p>
        </p:txBody>
      </p:sp>
      <p:sp>
        <p:nvSpPr>
          <p:cNvPr id="6" name="Shape 3"/>
          <p:cNvSpPr/>
          <p:nvPr/>
        </p:nvSpPr>
        <p:spPr>
          <a:xfrm>
            <a:off x="3017520" y="1527048"/>
            <a:ext cx="1874520" cy="694944"/>
          </a:xfrm>
          <a:prstGeom prst="roundRect">
            <a:avLst>
              <a:gd name="adj" fmla="val 15789"/>
            </a:avLst>
          </a:prstGeom>
          <a:solidFill>
            <a:schemeClr val="bg2"/>
          </a:solidFill>
          <a:ln/>
        </p:spPr>
      </p:sp>
      <p:sp>
        <p:nvSpPr>
          <p:cNvPr id="7" name="Text 4"/>
          <p:cNvSpPr txBox="1"/>
          <p:nvPr/>
        </p:nvSpPr>
        <p:spPr>
          <a:xfrm>
            <a:off x="3108960" y="1527048"/>
            <a:ext cx="1691640" cy="694944"/>
          </a:xfrm>
          <a:prstGeom prst="rect">
            <a:avLst/>
          </a:prstGeom>
          <a:noFill/>
          <a:ln/>
        </p:spPr>
        <p:txBody>
          <a:bodyPr wrap="square" lIns="0" tIns="0" rIns="0" bIns="0" rtlCol="0" anchor="ctr">
            <a:normAutofit/>
          </a:bodyPr>
          <a:lstStyle/>
          <a:p>
            <a:pPr algn="ctr" indent="0" marL="0">
              <a:buNone/>
            </a:pPr>
            <a:r>
              <a:rPr lang="en-US" sz="1400" dirty="0">
                <a:solidFill>
                  <a:schemeClr val="tx1"/>
                </a:solidFill>
              </a:rPr>
              <a:t>Ensemble</a:t>
            </a:r>
            <a:endParaRPr lang="en-US" sz="1400" dirty="0"/>
          </a:p>
        </p:txBody>
      </p:sp>
      <p:sp>
        <p:nvSpPr>
          <p:cNvPr id="8" name="Shape 5"/>
          <p:cNvSpPr/>
          <p:nvPr/>
        </p:nvSpPr>
        <p:spPr>
          <a:xfrm>
            <a:off x="5074920" y="1527048"/>
            <a:ext cx="1874520" cy="694944"/>
          </a:xfrm>
          <a:prstGeom prst="roundRect">
            <a:avLst>
              <a:gd name="adj" fmla="val 15789"/>
            </a:avLst>
          </a:prstGeom>
          <a:solidFill>
            <a:schemeClr val="bg2"/>
          </a:solidFill>
          <a:ln/>
        </p:spPr>
      </p:sp>
      <p:sp>
        <p:nvSpPr>
          <p:cNvPr id="9" name="Text 6"/>
          <p:cNvSpPr txBox="1"/>
          <p:nvPr/>
        </p:nvSpPr>
        <p:spPr>
          <a:xfrm>
            <a:off x="5166360" y="1527048"/>
            <a:ext cx="1691640" cy="694944"/>
          </a:xfrm>
          <a:prstGeom prst="rect">
            <a:avLst/>
          </a:prstGeom>
          <a:noFill/>
          <a:ln/>
        </p:spPr>
        <p:txBody>
          <a:bodyPr wrap="square" lIns="0" tIns="0" rIns="0" bIns="0" rtlCol="0" anchor="ctr">
            <a:normAutofit/>
          </a:bodyPr>
          <a:lstStyle/>
          <a:p>
            <a:pPr algn="ctr" indent="0" marL="0">
              <a:buNone/>
            </a:pPr>
            <a:r>
              <a:rPr lang="en-US" sz="1400" dirty="0">
                <a:solidFill>
                  <a:schemeClr val="tx1"/>
                </a:solidFill>
              </a:rPr>
              <a:t>LIME / SHAP</a:t>
            </a:r>
            <a:endParaRPr lang="en-US" sz="1400" dirty="0"/>
          </a:p>
        </p:txBody>
      </p:sp>
      <p:sp>
        <p:nvSpPr>
          <p:cNvPr id="10" name="Shape 7"/>
          <p:cNvSpPr/>
          <p:nvPr/>
        </p:nvSpPr>
        <p:spPr>
          <a:xfrm>
            <a:off x="7132320" y="1527048"/>
            <a:ext cx="1874520" cy="694944"/>
          </a:xfrm>
          <a:prstGeom prst="roundRect">
            <a:avLst>
              <a:gd name="adj" fmla="val 15789"/>
            </a:avLst>
          </a:prstGeom>
          <a:solidFill>
            <a:schemeClr val="bg2"/>
          </a:solidFill>
          <a:ln/>
        </p:spPr>
      </p:sp>
      <p:sp>
        <p:nvSpPr>
          <p:cNvPr id="11" name="Text 8"/>
          <p:cNvSpPr txBox="1"/>
          <p:nvPr/>
        </p:nvSpPr>
        <p:spPr>
          <a:xfrm>
            <a:off x="7223760" y="1527048"/>
            <a:ext cx="1691640" cy="694944"/>
          </a:xfrm>
          <a:prstGeom prst="rect">
            <a:avLst/>
          </a:prstGeom>
          <a:noFill/>
          <a:ln/>
        </p:spPr>
        <p:txBody>
          <a:bodyPr wrap="square" lIns="0" tIns="0" rIns="0" bIns="0" rtlCol="0" anchor="ctr">
            <a:normAutofit/>
          </a:bodyPr>
          <a:lstStyle/>
          <a:p>
            <a:pPr algn="ctr" indent="0" marL="0">
              <a:buNone/>
            </a:pPr>
            <a:r>
              <a:rPr lang="en-US" sz="1400" dirty="0">
                <a:solidFill>
                  <a:schemeClr val="tx1"/>
                </a:solidFill>
              </a:rPr>
              <a:t>ISOT and LIAR</a:t>
            </a:r>
            <a:endParaRPr lang="en-US" sz="1400" dirty="0"/>
          </a:p>
        </p:txBody>
      </p:sp>
      <p:sp>
        <p:nvSpPr>
          <p:cNvPr id="12" name="Shape 9"/>
          <p:cNvSpPr/>
          <p:nvPr/>
        </p:nvSpPr>
        <p:spPr>
          <a:xfrm>
            <a:off x="548640" y="2834640"/>
            <a:ext cx="731520" cy="731520"/>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731520" y="3017520"/>
            <a:ext cx="365760" cy="365760"/>
          </a:xfrm>
          <a:prstGeom prst="rect">
            <a:avLst/>
          </a:prstGeom>
        </p:spPr>
      </p:pic>
      <p:sp>
        <p:nvSpPr>
          <p:cNvPr id="14" name="Text 10"/>
          <p:cNvSpPr txBox="1"/>
          <p:nvPr/>
        </p:nvSpPr>
        <p:spPr>
          <a:xfrm>
            <a:off x="1417320" y="2834640"/>
            <a:ext cx="1554480" cy="731520"/>
          </a:xfrm>
          <a:prstGeom prst="rect">
            <a:avLst/>
          </a:prstGeom>
          <a:noFill/>
          <a:ln/>
        </p:spPr>
        <p:txBody>
          <a:bodyPr wrap="square" lIns="0" tIns="0" rIns="0" bIns="0" rtlCol="0" anchor="ctr"/>
          <a:lstStyle/>
          <a:p>
            <a:pPr indent="0" marL="0">
              <a:buNone/>
            </a:pPr>
            <a:r>
              <a:rPr lang="en-US" sz="1500" b="1" dirty="0">
                <a:solidFill>
                  <a:schemeClr val="accent2"/>
                </a:solidFill>
              </a:rPr>
              <a:t>Image track</a:t>
            </a:r>
            <a:endParaRPr lang="en-US" sz="1500" dirty="0"/>
          </a:p>
        </p:txBody>
      </p:sp>
      <p:sp>
        <p:nvSpPr>
          <p:cNvPr id="15" name="Shape 11"/>
          <p:cNvSpPr/>
          <p:nvPr/>
        </p:nvSpPr>
        <p:spPr>
          <a:xfrm>
            <a:off x="3017520" y="2852928"/>
            <a:ext cx="1874520" cy="694944"/>
          </a:xfrm>
          <a:prstGeom prst="roundRect">
            <a:avLst>
              <a:gd name="adj" fmla="val 15789"/>
            </a:avLst>
          </a:prstGeom>
          <a:solidFill>
            <a:schemeClr val="bg2"/>
          </a:solidFill>
          <a:ln/>
        </p:spPr>
      </p:sp>
      <p:sp>
        <p:nvSpPr>
          <p:cNvPr id="16" name="Text 12"/>
          <p:cNvSpPr txBox="1"/>
          <p:nvPr/>
        </p:nvSpPr>
        <p:spPr>
          <a:xfrm>
            <a:off x="3108960" y="2852928"/>
            <a:ext cx="1691640" cy="694944"/>
          </a:xfrm>
          <a:prstGeom prst="rect">
            <a:avLst/>
          </a:prstGeom>
          <a:noFill/>
          <a:ln/>
        </p:spPr>
        <p:txBody>
          <a:bodyPr wrap="square" lIns="0" tIns="0" rIns="0" bIns="0" rtlCol="0" anchor="ctr">
            <a:normAutofit/>
          </a:bodyPr>
          <a:lstStyle/>
          <a:p>
            <a:pPr algn="ctr" indent="0" marL="0">
              <a:buNone/>
            </a:pPr>
            <a:r>
              <a:rPr lang="en-US" sz="1400" dirty="0">
                <a:solidFill>
                  <a:schemeClr val="tx1"/>
                </a:solidFill>
              </a:rPr>
              <a:t>Unseen generators</a:t>
            </a:r>
            <a:endParaRPr lang="en-US" sz="1400" dirty="0"/>
          </a:p>
        </p:txBody>
      </p:sp>
      <p:sp>
        <p:nvSpPr>
          <p:cNvPr id="17" name="Shape 13"/>
          <p:cNvSpPr/>
          <p:nvPr/>
        </p:nvSpPr>
        <p:spPr>
          <a:xfrm>
            <a:off x="5074920" y="2852928"/>
            <a:ext cx="1874520" cy="694944"/>
          </a:xfrm>
          <a:prstGeom prst="roundRect">
            <a:avLst>
              <a:gd name="adj" fmla="val 15789"/>
            </a:avLst>
          </a:prstGeom>
          <a:solidFill>
            <a:schemeClr val="bg2"/>
          </a:solidFill>
          <a:ln/>
        </p:spPr>
      </p:sp>
      <p:sp>
        <p:nvSpPr>
          <p:cNvPr id="18" name="Text 14"/>
          <p:cNvSpPr txBox="1"/>
          <p:nvPr/>
        </p:nvSpPr>
        <p:spPr>
          <a:xfrm>
            <a:off x="5166360" y="2852928"/>
            <a:ext cx="1691640" cy="694944"/>
          </a:xfrm>
          <a:prstGeom prst="rect">
            <a:avLst/>
          </a:prstGeom>
          <a:noFill/>
          <a:ln/>
        </p:spPr>
        <p:txBody>
          <a:bodyPr wrap="square" lIns="0" tIns="0" rIns="0" bIns="0" rtlCol="0" anchor="ctr">
            <a:normAutofit/>
          </a:bodyPr>
          <a:lstStyle/>
          <a:p>
            <a:pPr algn="ctr" indent="0" marL="0">
              <a:buNone/>
            </a:pPr>
            <a:r>
              <a:rPr lang="en-US" sz="1400" dirty="0">
                <a:solidFill>
                  <a:schemeClr val="tx1"/>
                </a:solidFill>
              </a:rPr>
              <a:t>Three seeds</a:t>
            </a:r>
            <a:endParaRPr lang="en-US" sz="1400" dirty="0"/>
          </a:p>
        </p:txBody>
      </p:sp>
      <p:sp>
        <p:nvSpPr>
          <p:cNvPr id="19" name="Shape 15"/>
          <p:cNvSpPr/>
          <p:nvPr/>
        </p:nvSpPr>
        <p:spPr>
          <a:xfrm>
            <a:off x="7132320" y="2852928"/>
            <a:ext cx="1874520" cy="694944"/>
          </a:xfrm>
          <a:prstGeom prst="roundRect">
            <a:avLst>
              <a:gd name="adj" fmla="val 15789"/>
            </a:avLst>
          </a:prstGeom>
          <a:solidFill>
            <a:schemeClr val="bg2"/>
          </a:solidFill>
          <a:ln/>
        </p:spPr>
      </p:sp>
      <p:sp>
        <p:nvSpPr>
          <p:cNvPr id="20" name="Text 16"/>
          <p:cNvSpPr txBox="1"/>
          <p:nvPr/>
        </p:nvSpPr>
        <p:spPr>
          <a:xfrm>
            <a:off x="7223760" y="2852928"/>
            <a:ext cx="1691640" cy="694944"/>
          </a:xfrm>
          <a:prstGeom prst="rect">
            <a:avLst/>
          </a:prstGeom>
          <a:noFill/>
          <a:ln/>
        </p:spPr>
        <p:txBody>
          <a:bodyPr wrap="square" lIns="0" tIns="0" rIns="0" bIns="0" rtlCol="0" anchor="ctr">
            <a:normAutofit/>
          </a:bodyPr>
          <a:lstStyle/>
          <a:p>
            <a:pPr algn="ctr" indent="0" marL="0">
              <a:buNone/>
            </a:pPr>
            <a:r>
              <a:rPr lang="en-US" sz="1400" dirty="0">
                <a:solidFill>
                  <a:schemeClr val="tx1"/>
                </a:solidFill>
              </a:rPr>
              <a:t>Full training set</a:t>
            </a:r>
            <a:endParaRPr lang="en-US" sz="1400" dirty="0"/>
          </a:p>
        </p:txBody>
      </p:sp>
      <p:sp>
        <p:nvSpPr>
          <p:cNvPr id="21" name="Shape 17"/>
          <p:cNvSpPr/>
          <p:nvPr/>
        </p:nvSpPr>
        <p:spPr>
          <a:xfrm>
            <a:off x="548640" y="4160520"/>
            <a:ext cx="731520" cy="731520"/>
          </a:xfrm>
          <a:prstGeom prst="ellipse">
            <a:avLst/>
          </a:prstGeom>
          <a:solidFill>
            <a:schemeClr val="accent3"/>
          </a:solidFill>
          <a:ln/>
        </p:spPr>
      </p:sp>
      <p:pic>
        <p:nvPicPr>
          <p:cNvPr id="22" name="Image 2" descr="preencoded.png">    </p:cNvPr>
          <p:cNvPicPr>
            <a:picLocks noChangeAspect="1"/>
          </p:cNvPicPr>
          <p:nvPr/>
        </p:nvPicPr>
        <p:blipFill>
          <a:blip r:embed="rId3"/>
          <a:stretch>
            <a:fillRect/>
          </a:stretch>
        </p:blipFill>
        <p:spPr>
          <a:xfrm>
            <a:off x="731520" y="4343400"/>
            <a:ext cx="365760" cy="365760"/>
          </a:xfrm>
          <a:prstGeom prst="rect">
            <a:avLst/>
          </a:prstGeom>
        </p:spPr>
      </p:pic>
      <p:sp>
        <p:nvSpPr>
          <p:cNvPr id="23" name="Text 18"/>
          <p:cNvSpPr txBox="1"/>
          <p:nvPr/>
        </p:nvSpPr>
        <p:spPr>
          <a:xfrm>
            <a:off x="1417320" y="4160520"/>
            <a:ext cx="1554480" cy="731520"/>
          </a:xfrm>
          <a:prstGeom prst="rect">
            <a:avLst/>
          </a:prstGeom>
          <a:noFill/>
          <a:ln/>
        </p:spPr>
        <p:txBody>
          <a:bodyPr wrap="square" lIns="0" tIns="0" rIns="0" bIns="0" rtlCol="0" anchor="ctr"/>
          <a:lstStyle/>
          <a:p>
            <a:pPr indent="0" marL="0">
              <a:buNone/>
            </a:pPr>
            <a:r>
              <a:rPr lang="en-US" sz="1500" b="1" dirty="0">
                <a:solidFill>
                  <a:schemeClr val="accent3"/>
                </a:solidFill>
              </a:rPr>
              <a:t>Combined track</a:t>
            </a:r>
            <a:endParaRPr lang="en-US" sz="1500" dirty="0"/>
          </a:p>
        </p:txBody>
      </p:sp>
      <p:sp>
        <p:nvSpPr>
          <p:cNvPr id="24" name="Shape 19"/>
          <p:cNvSpPr/>
          <p:nvPr/>
        </p:nvSpPr>
        <p:spPr>
          <a:xfrm>
            <a:off x="3017520" y="4178808"/>
            <a:ext cx="1874520" cy="694944"/>
          </a:xfrm>
          <a:prstGeom prst="roundRect">
            <a:avLst>
              <a:gd name="adj" fmla="val 15789"/>
            </a:avLst>
          </a:prstGeom>
          <a:solidFill>
            <a:schemeClr val="bg2"/>
          </a:solidFill>
          <a:ln/>
        </p:spPr>
      </p:sp>
      <p:sp>
        <p:nvSpPr>
          <p:cNvPr id="25" name="Text 20"/>
          <p:cNvSpPr txBox="1"/>
          <p:nvPr/>
        </p:nvSpPr>
        <p:spPr>
          <a:xfrm>
            <a:off x="3108960" y="4178808"/>
            <a:ext cx="1691640" cy="694944"/>
          </a:xfrm>
          <a:prstGeom prst="rect">
            <a:avLst/>
          </a:prstGeom>
          <a:noFill/>
          <a:ln/>
        </p:spPr>
        <p:txBody>
          <a:bodyPr wrap="square" lIns="0" tIns="0" rIns="0" bIns="0" rtlCol="0" anchor="ctr">
            <a:normAutofit/>
          </a:bodyPr>
          <a:lstStyle/>
          <a:p>
            <a:pPr algn="ctr" indent="0" marL="0">
              <a:buNone/>
            </a:pPr>
            <a:r>
              <a:rPr lang="en-US" sz="1400" dirty="0">
                <a:solidFill>
                  <a:schemeClr val="tx1"/>
                </a:solidFill>
              </a:rPr>
              <a:t>Attention and Gate heads</a:t>
            </a:r>
            <a:endParaRPr lang="en-US" sz="1400" dirty="0"/>
          </a:p>
        </p:txBody>
      </p:sp>
      <p:sp>
        <p:nvSpPr>
          <p:cNvPr id="26" name="Shape 21"/>
          <p:cNvSpPr/>
          <p:nvPr/>
        </p:nvSpPr>
        <p:spPr>
          <a:xfrm>
            <a:off x="5074920" y="4178808"/>
            <a:ext cx="1874520" cy="694944"/>
          </a:xfrm>
          <a:prstGeom prst="roundRect">
            <a:avLst>
              <a:gd name="adj" fmla="val 15789"/>
            </a:avLst>
          </a:prstGeom>
          <a:solidFill>
            <a:schemeClr val="bg2"/>
          </a:solidFill>
          <a:ln/>
        </p:spPr>
      </p:sp>
      <p:sp>
        <p:nvSpPr>
          <p:cNvPr id="27" name="Text 22"/>
          <p:cNvSpPr txBox="1"/>
          <p:nvPr/>
        </p:nvSpPr>
        <p:spPr>
          <a:xfrm>
            <a:off x="5166360" y="4178808"/>
            <a:ext cx="1691640" cy="694944"/>
          </a:xfrm>
          <a:prstGeom prst="rect">
            <a:avLst/>
          </a:prstGeom>
          <a:noFill/>
          <a:ln/>
        </p:spPr>
        <p:txBody>
          <a:bodyPr wrap="square" lIns="0" tIns="0" rIns="0" bIns="0" rtlCol="0" anchor="ctr">
            <a:normAutofit/>
          </a:bodyPr>
          <a:lstStyle/>
          <a:p>
            <a:pPr algn="ctr" indent="0" marL="0">
              <a:buNone/>
            </a:pPr>
            <a:r>
              <a:rPr lang="en-US" sz="1400" dirty="0">
                <a:solidFill>
                  <a:schemeClr val="tx1"/>
                </a:solidFill>
              </a:rPr>
              <a:t>CLIP classifier</a:t>
            </a:r>
            <a:endParaRPr lang="en-US" sz="1400" dirty="0"/>
          </a:p>
        </p:txBody>
      </p:sp>
      <p:sp>
        <p:nvSpPr>
          <p:cNvPr id="28" name="Shape 23"/>
          <p:cNvSpPr/>
          <p:nvPr/>
        </p:nvSpPr>
        <p:spPr>
          <a:xfrm>
            <a:off x="7132320" y="4178808"/>
            <a:ext cx="1874520" cy="694944"/>
          </a:xfrm>
          <a:prstGeom prst="roundRect">
            <a:avLst>
              <a:gd name="adj" fmla="val 15789"/>
            </a:avLst>
          </a:prstGeom>
          <a:solidFill>
            <a:schemeClr val="bg2"/>
          </a:solidFill>
          <a:ln/>
        </p:spPr>
      </p:sp>
      <p:sp>
        <p:nvSpPr>
          <p:cNvPr id="29" name="Text 24"/>
          <p:cNvSpPr txBox="1"/>
          <p:nvPr/>
        </p:nvSpPr>
        <p:spPr>
          <a:xfrm>
            <a:off x="7223760" y="4178808"/>
            <a:ext cx="1691640" cy="694944"/>
          </a:xfrm>
          <a:prstGeom prst="rect">
            <a:avLst/>
          </a:prstGeom>
          <a:noFill/>
          <a:ln/>
        </p:spPr>
        <p:txBody>
          <a:bodyPr wrap="square" lIns="0" tIns="0" rIns="0" bIns="0" rtlCol="0" anchor="ctr">
            <a:normAutofit/>
          </a:bodyPr>
          <a:lstStyle/>
          <a:p>
            <a:pPr algn="ctr" indent="0" marL="0">
              <a:buNone/>
            </a:pPr>
            <a:r>
              <a:rPr lang="en-US" sz="1400" dirty="0">
                <a:solidFill>
                  <a:schemeClr val="tx1"/>
                </a:solidFill>
              </a:rPr>
              <a:t>Three seeds</a:t>
            </a:r>
            <a:endParaRPr lang="en-US" sz="1400" dirty="0"/>
          </a:p>
        </p:txBody>
      </p:sp>
      <p:sp>
        <p:nvSpPr>
          <p:cNvPr id="30" name="Shape 25"/>
          <p:cNvSpPr/>
          <p:nvPr/>
        </p:nvSpPr>
        <p:spPr>
          <a:xfrm>
            <a:off x="3017520" y="5440680"/>
            <a:ext cx="5989320" cy="685800"/>
          </a:xfrm>
          <a:prstGeom prst="roundRect">
            <a:avLst>
              <a:gd name="adj" fmla="val 20000"/>
            </a:avLst>
          </a:prstGeom>
          <a:solidFill>
            <a:schemeClr val="tx2"/>
          </a:solidFill>
          <a:ln/>
        </p:spPr>
      </p:sp>
      <p:pic>
        <p:nvPicPr>
          <p:cNvPr id="31" name="Image 3" descr="preencoded.png">    </p:cNvPr>
          <p:cNvPicPr>
            <a:picLocks noChangeAspect="1"/>
          </p:cNvPicPr>
          <p:nvPr/>
        </p:nvPicPr>
        <p:blipFill>
          <a:blip r:embed="rId4"/>
          <a:stretch>
            <a:fillRect/>
          </a:stretch>
        </p:blipFill>
        <p:spPr>
          <a:xfrm>
            <a:off x="3200400" y="5596128"/>
            <a:ext cx="365760" cy="365760"/>
          </a:xfrm>
          <a:prstGeom prst="rect">
            <a:avLst/>
          </a:prstGeom>
        </p:spPr>
      </p:pic>
      <p:sp>
        <p:nvSpPr>
          <p:cNvPr id="32" name="Text 26"/>
          <p:cNvSpPr txBox="1"/>
          <p:nvPr/>
        </p:nvSpPr>
        <p:spPr>
          <a:xfrm>
            <a:off x="3657600" y="5440680"/>
            <a:ext cx="5257800" cy="685800"/>
          </a:xfrm>
          <a:prstGeom prst="rect">
            <a:avLst/>
          </a:prstGeom>
          <a:noFill/>
          <a:ln/>
        </p:spPr>
        <p:txBody>
          <a:bodyPr wrap="square" lIns="0" tIns="0" rIns="0" bIns="0" rtlCol="0" anchor="ctr"/>
          <a:lstStyle/>
          <a:p>
            <a:pPr indent="0" marL="0">
              <a:buNone/>
            </a:pPr>
            <a:r>
              <a:rPr lang="en-US" sz="1400" b="1" dirty="0">
                <a:solidFill>
                  <a:schemeClr val="bg1"/>
                </a:solidFill>
              </a:rPr>
              <a:t>One shared output format → one app that gives a verdict for text, image or both</a:t>
            </a:r>
            <a:endParaRPr lang="en-US" sz="1400" dirty="0"/>
          </a:p>
        </p:txBody>
      </p:sp>
      <p:sp>
        <p:nvSpPr>
          <p:cNvPr id="33" name="good to know card"/>
          <p:cNvSpPr/>
          <p:nvPr/>
        </p:nvSpPr>
        <p:spPr>
          <a:xfrm>
            <a:off x="9281160" y="1463040"/>
            <a:ext cx="2377440" cy="1920240"/>
          </a:xfrm>
          <a:prstGeom prst="roundRect">
            <a:avLst>
              <a:gd name="adj" fmla="val 5714"/>
            </a:avLst>
          </a:prstGeom>
          <a:solidFill>
            <a:schemeClr val="bg2"/>
          </a:solidFill>
          <a:ln/>
        </p:spPr>
      </p:sp>
      <p:pic>
        <p:nvPicPr>
          <p:cNvPr id="34" name="Image 4" descr="preencoded.png">    </p:cNvPr>
          <p:cNvPicPr>
            <a:picLocks noChangeAspect="1"/>
          </p:cNvPicPr>
          <p:nvPr/>
        </p:nvPicPr>
        <p:blipFill>
          <a:blip r:embed="rId5"/>
          <a:stretch>
            <a:fillRect/>
          </a:stretch>
        </p:blipFill>
        <p:spPr>
          <a:xfrm>
            <a:off x="9464040" y="1645920"/>
            <a:ext cx="237744" cy="237744"/>
          </a:xfrm>
          <a:prstGeom prst="rect">
            <a:avLst/>
          </a:prstGeom>
        </p:spPr>
      </p:pic>
      <p:sp>
        <p:nvSpPr>
          <p:cNvPr id="35" name="Text 28"/>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36" name="Text 29"/>
          <p:cNvSpPr txBox="1"/>
          <p:nvPr/>
        </p:nvSpPr>
        <p:spPr>
          <a:xfrm>
            <a:off x="9464040" y="1965960"/>
            <a:ext cx="2057400" cy="1280160"/>
          </a:xfrm>
          <a:prstGeom prst="rect">
            <a:avLst/>
          </a:prstGeom>
          <a:noFill/>
          <a:ln/>
        </p:spPr>
        <p:txBody>
          <a:bodyPr wrap="square" lIns="0" tIns="0" rIns="0" bIns="0" rtlCol="0" anchor="t"/>
          <a:lstStyle/>
          <a:p>
            <a:pPr indent="0" marL="0">
              <a:buNone/>
            </a:pPr>
            <a:r>
              <a:rPr lang="en-US" sz="1200" dirty="0">
                <a:solidFill>
                  <a:schemeClr val="tx1"/>
                </a:solidFill>
              </a:rPr>
              <a:t>The combined track's stretch targets (84.8% and 76.3%) come from fully trained systems and are not met yet.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Text 0"/>
          <p:cNvSpPr/>
          <p:nvPr>
            <p:ph idx="101" type="body" hasCustomPrompt="1"/>
          </p:nvPr>
        </p:nvSpPr>
        <p:spPr>
          <a:xfrm>
            <a:off x="731520" y="3108960"/>
            <a:ext cx="10698480" cy="731520"/>
          </a:xfrm>
          <a:prstGeom prst="rect">
            <a:avLst/>
          </a:prstGeom>
          <a:noFill/>
          <a:ln/>
        </p:spPr>
        <p:txBody>
          <a:bodyPr wrap="square" lIns="0" tIns="0" rIns="0" bIns="0" rtlCol="0" anchor="t"/>
          <a:lstStyle/>
          <a:p>
            <a:pPr algn="l" indent="0" marL="0">
              <a:buNone/>
            </a:pPr>
            <a:r>
              <a:rPr lang="en-US" sz="2000" dirty="0">
                <a:solidFill>
                  <a:schemeClr val="bg2"/>
                </a:solidFill>
              </a:rPr>
              <a:t>Questions welcome</a:t>
            </a:r>
            <a:endParaRPr lang="en-US" sz="2000" dirty="0"/>
          </a:p>
        </p:txBody>
      </p:sp>
      <p:sp>
        <p:nvSpPr>
          <p:cNvPr id="4" name="Shape 2"/>
          <p:cNvSpPr/>
          <p:nvPr/>
        </p:nvSpPr>
        <p:spPr>
          <a:xfrm>
            <a:off x="731520" y="4572000"/>
            <a:ext cx="822960" cy="8229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32688" y="4773168"/>
            <a:ext cx="420624" cy="420624"/>
          </a:xfrm>
          <a:prstGeom prst="rect">
            <a:avLst/>
          </a:prstGeom>
        </p:spPr>
      </p:pic>
      <p:sp>
        <p:nvSpPr>
          <p:cNvPr id="6" name="Text 3"/>
          <p:cNvSpPr txBox="1"/>
          <p:nvPr/>
        </p:nvSpPr>
        <p:spPr>
          <a:xfrm>
            <a:off x="1691640" y="4553712"/>
            <a:ext cx="2468880" cy="868680"/>
          </a:xfrm>
          <a:prstGeom prst="rect">
            <a:avLst/>
          </a:prstGeom>
          <a:noFill/>
          <a:ln/>
        </p:spPr>
        <p:txBody>
          <a:bodyPr wrap="square" lIns="0" tIns="0" rIns="0" bIns="0" rtlCol="0" anchor="ctr"/>
          <a:lstStyle/>
          <a:p>
            <a:pPr indent="0" marL="0">
              <a:buNone/>
            </a:pPr>
            <a:r>
              <a:rPr lang="en-US" sz="1600" b="1" dirty="0">
                <a:solidFill>
                  <a:schemeClr val="bg1"/>
                </a:solidFill>
              </a:rPr>
              <a:t>Harika Etikela</a:t>
            </a:r>
            <a:endParaRPr lang="en-US" sz="1600" dirty="0"/>
          </a:p>
          <a:p>
            <a:pPr indent="0" marL="0">
              <a:buNone/>
            </a:pPr>
            <a:r>
              <a:rPr lang="en-US" sz="1600" dirty="0">
                <a:solidFill>
                  <a:schemeClr val="bg1"/>
                </a:solidFill>
              </a:rPr>
              <a:t>Text track</a:t>
            </a:r>
            <a:endParaRPr lang="en-US" sz="1600" dirty="0"/>
          </a:p>
        </p:txBody>
      </p:sp>
      <p:sp>
        <p:nvSpPr>
          <p:cNvPr id="7" name="Shape 4"/>
          <p:cNvSpPr/>
          <p:nvPr/>
        </p:nvSpPr>
        <p:spPr>
          <a:xfrm>
            <a:off x="4297680" y="4572000"/>
            <a:ext cx="822960" cy="822960"/>
          </a:xfrm>
          <a:prstGeom prst="ellipse">
            <a:avLst/>
          </a:prstGeom>
          <a:solidFill>
            <a:schemeClr val="accent2"/>
          </a:solidFill>
          <a:ln/>
        </p:spPr>
      </p:sp>
      <p:pic>
        <p:nvPicPr>
          <p:cNvPr id="8" name="Image 1" descr="preencoded.png">    </p:cNvPr>
          <p:cNvPicPr>
            <a:picLocks noChangeAspect="1"/>
          </p:cNvPicPr>
          <p:nvPr/>
        </p:nvPicPr>
        <p:blipFill>
          <a:blip r:embed="rId2"/>
          <a:stretch>
            <a:fillRect/>
          </a:stretch>
        </p:blipFill>
        <p:spPr>
          <a:xfrm>
            <a:off x="4498848" y="4773168"/>
            <a:ext cx="420624" cy="420624"/>
          </a:xfrm>
          <a:prstGeom prst="rect">
            <a:avLst/>
          </a:prstGeom>
        </p:spPr>
      </p:pic>
      <p:sp>
        <p:nvSpPr>
          <p:cNvPr id="9" name="Text 5"/>
          <p:cNvSpPr txBox="1"/>
          <p:nvPr/>
        </p:nvSpPr>
        <p:spPr>
          <a:xfrm>
            <a:off x="5257800" y="4553712"/>
            <a:ext cx="2468880" cy="868680"/>
          </a:xfrm>
          <a:prstGeom prst="rect">
            <a:avLst/>
          </a:prstGeom>
          <a:noFill/>
          <a:ln/>
        </p:spPr>
        <p:txBody>
          <a:bodyPr wrap="square" lIns="0" tIns="0" rIns="0" bIns="0" rtlCol="0" anchor="ctr"/>
          <a:lstStyle/>
          <a:p>
            <a:pPr indent="0" marL="0">
              <a:buNone/>
            </a:pPr>
            <a:r>
              <a:rPr lang="en-US" sz="1600" b="1" dirty="0">
                <a:solidFill>
                  <a:schemeClr val="bg1"/>
                </a:solidFill>
              </a:rPr>
              <a:t>Ananya</a:t>
            </a:r>
            <a:endParaRPr lang="en-US" sz="1600" dirty="0"/>
          </a:p>
          <a:p>
            <a:pPr indent="0" marL="0">
              <a:buNone/>
            </a:pPr>
            <a:r>
              <a:rPr lang="en-US" sz="1600" dirty="0">
                <a:solidFill>
                  <a:schemeClr val="bg1"/>
                </a:solidFill>
              </a:rPr>
              <a:t>Image track</a:t>
            </a:r>
            <a:endParaRPr lang="en-US" sz="1600" dirty="0"/>
          </a:p>
        </p:txBody>
      </p:sp>
      <p:sp>
        <p:nvSpPr>
          <p:cNvPr id="10" name="Shape 6"/>
          <p:cNvSpPr/>
          <p:nvPr/>
        </p:nvSpPr>
        <p:spPr>
          <a:xfrm>
            <a:off x="7863840" y="4572000"/>
            <a:ext cx="822960" cy="822960"/>
          </a:xfrm>
          <a:prstGeom prst="ellipse">
            <a:avLst/>
          </a:prstGeom>
          <a:solidFill>
            <a:schemeClr val="accent3"/>
          </a:solidFill>
          <a:ln/>
        </p:spPr>
      </p:sp>
      <p:pic>
        <p:nvPicPr>
          <p:cNvPr id="11" name="Image 2" descr="preencoded.png">    </p:cNvPr>
          <p:cNvPicPr>
            <a:picLocks noChangeAspect="1"/>
          </p:cNvPicPr>
          <p:nvPr/>
        </p:nvPicPr>
        <p:blipFill>
          <a:blip r:embed="rId3"/>
          <a:stretch>
            <a:fillRect/>
          </a:stretch>
        </p:blipFill>
        <p:spPr>
          <a:xfrm>
            <a:off x="8065008" y="4773168"/>
            <a:ext cx="420624" cy="420624"/>
          </a:xfrm>
          <a:prstGeom prst="rect">
            <a:avLst/>
          </a:prstGeom>
        </p:spPr>
      </p:pic>
      <p:sp>
        <p:nvSpPr>
          <p:cNvPr id="12" name="Text 7"/>
          <p:cNvSpPr txBox="1"/>
          <p:nvPr/>
        </p:nvSpPr>
        <p:spPr>
          <a:xfrm>
            <a:off x="8823960" y="4553712"/>
            <a:ext cx="2468880" cy="868680"/>
          </a:xfrm>
          <a:prstGeom prst="rect">
            <a:avLst/>
          </a:prstGeom>
          <a:noFill/>
          <a:ln/>
        </p:spPr>
        <p:txBody>
          <a:bodyPr wrap="square" lIns="0" tIns="0" rIns="0" bIns="0" rtlCol="0" anchor="ctr"/>
          <a:lstStyle/>
          <a:p>
            <a:pPr indent="0" marL="0">
              <a:buNone/>
            </a:pPr>
            <a:r>
              <a:rPr lang="en-US" sz="1600" b="1" dirty="0">
                <a:solidFill>
                  <a:schemeClr val="bg1"/>
                </a:solidFill>
              </a:rPr>
              <a:t>Rafiul Haider</a:t>
            </a:r>
            <a:endParaRPr lang="en-US" sz="1600" dirty="0"/>
          </a:p>
          <a:p>
            <a:pPr indent="0" marL="0">
              <a:buNone/>
            </a:pPr>
            <a:r>
              <a:rPr lang="en-US" sz="1600" dirty="0">
                <a:solidFill>
                  <a:schemeClr val="bg1"/>
                </a:solidFill>
              </a:rPr>
              <a:t>Combined track</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Backup: published systems on NewsCLIPpings</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3"/>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Combined track · Rafiul Haider</a:t>
            </a:r>
            <a:endParaRPr lang="en-US" sz="1100" dirty="0"/>
          </a:p>
        </p:txBody>
      </p:sp>
      <p:graphicFrame>
        <p:nvGraphicFramePr>
          <p:cNvPr id="6" name="Chart 0" descr=""/>
          <p:cNvGraphicFramePr/>
          <p:nvPr/>
        </p:nvGraphicFramePr>
        <p:xfrm>
          <a:off x="548640" y="1325880"/>
          <a:ext cx="8412480" cy="4572000"/>
        </p:xfrm>
        <a:graphic xmlns:a="http://schemas.openxmlformats.org/drawingml/2006/main">
          <a:graphicData uri="http://schemas.openxmlformats.org/drawingml/2006/chart">
            <c:chart xmlns:c="http://schemas.openxmlformats.org/drawingml/2006/chart" r:id="rId2"/>
          </a:graphicData>
        </a:graphic>
      </p:graphicFrame>
      <p:sp>
        <p:nvSpPr>
          <p:cNvPr id="7" name="good to know card"/>
          <p:cNvSpPr/>
          <p:nvPr/>
        </p:nvSpPr>
        <p:spPr>
          <a:xfrm>
            <a:off x="9281160" y="1463040"/>
            <a:ext cx="2377440" cy="2103120"/>
          </a:xfrm>
          <a:prstGeom prst="roundRect">
            <a:avLst>
              <a:gd name="adj" fmla="val 5217"/>
            </a:avLst>
          </a:prstGeom>
          <a:solidFill>
            <a:schemeClr val="bg2"/>
          </a:solidFill>
          <a:ln/>
        </p:spPr>
      </p:sp>
      <p:pic>
        <p:nvPicPr>
          <p:cNvPr id="8" name="Image 1" descr="preencoded.png">    </p:cNvPr>
          <p:cNvPicPr>
            <a:picLocks noChangeAspect="1"/>
          </p:cNvPicPr>
          <p:nvPr/>
        </p:nvPicPr>
        <p:blipFill>
          <a:blip r:embed="rId3"/>
          <a:stretch>
            <a:fillRect/>
          </a:stretch>
        </p:blipFill>
        <p:spPr>
          <a:xfrm>
            <a:off x="9464040" y="1645920"/>
            <a:ext cx="237744" cy="237744"/>
          </a:xfrm>
          <a:prstGeom prst="rect">
            <a:avLst/>
          </a:prstGeom>
        </p:spPr>
      </p:pic>
      <p:sp>
        <p:nvSpPr>
          <p:cNvPr id="9" name="Text 4"/>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10" name="Text 5"/>
          <p:cNvSpPr txBox="1"/>
          <p:nvPr/>
        </p:nvSpPr>
        <p:spPr>
          <a:xfrm>
            <a:off x="9464040" y="1965960"/>
            <a:ext cx="2057400" cy="1463040"/>
          </a:xfrm>
          <a:prstGeom prst="rect">
            <a:avLst/>
          </a:prstGeom>
          <a:noFill/>
          <a:ln/>
        </p:spPr>
        <p:txBody>
          <a:bodyPr wrap="square" lIns="0" tIns="0" rIns="0" bIns="0" rtlCol="0" anchor="t"/>
          <a:lstStyle/>
          <a:p>
            <a:pPr indent="0" marL="0">
              <a:buNone/>
            </a:pPr>
            <a:r>
              <a:rPr lang="en-US" sz="1200" dirty="0">
                <a:solidFill>
                  <a:schemeClr val="tx1"/>
                </a:solidFill>
              </a:rPr>
              <a:t>Published systems retrain the whole model; CCN and SNIFFER also search the web. These are reference points, not a ranking.</a:t>
            </a:r>
            <a:endParaRPr lang="en-US" sz="1200" dirty="0"/>
          </a:p>
        </p:txBody>
      </p:sp>
      <p:sp>
        <p:nvSpPr>
          <p:cNvPr id="11" name="Text 6"/>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Values checked against each paper's results table on 25 Oct 2026.</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Backup: the image effect by source</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3"/>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Combined track · Rafiul Haider</a:t>
            </a:r>
            <a:endParaRPr lang="en-US" sz="1100" dirty="0"/>
          </a:p>
        </p:txBody>
      </p:sp>
      <p:pic>
        <p:nvPicPr>
          <p:cNvPr id="6" name="Image 1" descr="/Users/rafiulhaider/Documents/Misinformation/MIDTERM_PRETRAINED_BASELINE/figures/03_image_effect_by_pair.png">    </p:cNvPr>
          <p:cNvPicPr>
            <a:picLocks noChangeAspect="1"/>
          </p:cNvPicPr>
          <p:nvPr/>
        </p:nvPicPr>
        <p:blipFill>
          <a:blip r:embed="rId2"/>
          <a:srcRect l="0" r="0" t="0" b="0"/>
          <a:stretch/>
        </p:blipFill>
        <p:spPr>
          <a:xfrm>
            <a:off x="548640" y="1280160"/>
            <a:ext cx="6309360" cy="4389120"/>
          </a:xfrm>
          <a:prstGeom prst="rect">
            <a:avLst/>
          </a:prstGeom>
        </p:spPr>
      </p:pic>
      <p:sp>
        <p:nvSpPr>
          <p:cNvPr id="7" name="good to know card"/>
          <p:cNvSpPr/>
          <p:nvPr/>
        </p:nvSpPr>
        <p:spPr>
          <a:xfrm>
            <a:off x="9281160" y="1463040"/>
            <a:ext cx="2377440" cy="1920240"/>
          </a:xfrm>
          <a:prstGeom prst="roundRect">
            <a:avLst>
              <a:gd name="adj" fmla="val 5714"/>
            </a:avLst>
          </a:prstGeom>
          <a:solidFill>
            <a:schemeClr val="bg2"/>
          </a:solidFill>
          <a:ln/>
        </p:spPr>
      </p:sp>
      <p:pic>
        <p:nvPicPr>
          <p:cNvPr id="8" name="Image 2" descr="preencoded.png">    </p:cNvPr>
          <p:cNvPicPr>
            <a:picLocks noChangeAspect="1"/>
          </p:cNvPicPr>
          <p:nvPr/>
        </p:nvPicPr>
        <p:blipFill>
          <a:blip r:embed="rId3"/>
          <a:stretch>
            <a:fillRect/>
          </a:stretch>
        </p:blipFill>
        <p:spPr>
          <a:xfrm>
            <a:off x="9464040" y="1645920"/>
            <a:ext cx="237744" cy="237744"/>
          </a:xfrm>
          <a:prstGeom prst="rect">
            <a:avLst/>
          </a:prstGeom>
        </p:spPr>
      </p:pic>
      <p:sp>
        <p:nvSpPr>
          <p:cNvPr id="9" name="Text 4"/>
          <p:cNvSpPr txBox="1"/>
          <p:nvPr/>
        </p:nvSpPr>
        <p:spPr>
          <a:xfrm>
            <a:off x="9784080" y="1600200"/>
            <a:ext cx="1737360" cy="329184"/>
          </a:xfrm>
          <a:prstGeom prst="rect">
            <a:avLst/>
          </a:prstGeom>
          <a:noFill/>
          <a:ln/>
        </p:spPr>
        <p:txBody>
          <a:bodyPr wrap="square" lIns="0" tIns="0" rIns="0" bIns="0" rtlCol="0" anchor="ctr"/>
          <a:lstStyle/>
          <a:p>
            <a:pPr indent="0" marL="0">
              <a:buNone/>
            </a:pPr>
            <a:r>
              <a:rPr lang="en-US" sz="1200" b="1" dirty="0">
                <a:solidFill>
                  <a:schemeClr val="tx1"/>
                </a:solidFill>
              </a:rPr>
              <a:t>Good to know</a:t>
            </a:r>
            <a:endParaRPr lang="en-US" sz="1200" dirty="0"/>
          </a:p>
        </p:txBody>
      </p:sp>
      <p:sp>
        <p:nvSpPr>
          <p:cNvPr id="10" name="Text 5"/>
          <p:cNvSpPr txBox="1"/>
          <p:nvPr/>
        </p:nvSpPr>
        <p:spPr>
          <a:xfrm>
            <a:off x="9464040" y="1965960"/>
            <a:ext cx="2057400" cy="1280160"/>
          </a:xfrm>
          <a:prstGeom prst="rect">
            <a:avLst/>
          </a:prstGeom>
          <a:noFill/>
          <a:ln/>
        </p:spPr>
        <p:txBody>
          <a:bodyPr wrap="square" lIns="0" tIns="0" rIns="0" bIns="0" rtlCol="0" anchor="t"/>
          <a:lstStyle/>
          <a:p>
            <a:pPr indent="0" marL="0">
              <a:buNone/>
            </a:pPr>
            <a:r>
              <a:rPr lang="en-US" sz="1200" dirty="0">
                <a:solidFill>
                  <a:schemeClr val="tx1"/>
                </a:solidFill>
              </a:rPr>
              <a:t>On 13 of 14 sources every row has the same label, so the image mainly changes which answer the model picks.</a:t>
            </a:r>
            <a:endParaRPr lang="en-US" sz="1200" dirty="0"/>
          </a:p>
        </p:txBody>
      </p:sp>
      <p:sp>
        <p:nvSpPr>
          <p:cNvPr id="11" name="Text 6"/>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MMFakeBench test, 9,999 rows, paired minus text-only accuracy with 95% ranges.</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Backup: where the model's answers go</a:t>
            </a:r>
            <a:endParaRPr lang="en-US" sz="3200" dirty="0"/>
          </a:p>
        </p:txBody>
      </p:sp>
      <p:sp>
        <p:nvSpPr>
          <p:cNvPr id="3" name="track badge"/>
          <p:cNvSpPr/>
          <p:nvPr/>
        </p:nvSpPr>
        <p:spPr>
          <a:xfrm>
            <a:off x="9281160" y="457200"/>
            <a:ext cx="2377440" cy="457200"/>
          </a:xfrm>
          <a:prstGeom prst="roundRect">
            <a:avLst>
              <a:gd name="adj" fmla="val 50000"/>
            </a:avLst>
          </a:prstGeom>
          <a:solidFill>
            <a:schemeClr val="accent3"/>
          </a:solidFill>
          <a:ln/>
        </p:spPr>
      </p:sp>
      <p:pic>
        <p:nvPicPr>
          <p:cNvPr id="4" name="Image 0" descr="preencoded.png">    </p:cNvPr>
          <p:cNvPicPr>
            <a:picLocks noChangeAspect="1"/>
          </p:cNvPicPr>
          <p:nvPr/>
        </p:nvPicPr>
        <p:blipFill>
          <a:blip r:embed="rId1"/>
          <a:stretch>
            <a:fillRect/>
          </a:stretch>
        </p:blipFill>
        <p:spPr>
          <a:xfrm>
            <a:off x="9418320" y="548640"/>
            <a:ext cx="274320" cy="274320"/>
          </a:xfrm>
          <a:prstGeom prst="rect">
            <a:avLst/>
          </a:prstGeom>
        </p:spPr>
      </p:pic>
      <p:sp>
        <p:nvSpPr>
          <p:cNvPr id="5" name="Text 2"/>
          <p:cNvSpPr txBox="1"/>
          <p:nvPr/>
        </p:nvSpPr>
        <p:spPr>
          <a:xfrm>
            <a:off x="9738360" y="457200"/>
            <a:ext cx="1874520" cy="457200"/>
          </a:xfrm>
          <a:prstGeom prst="rect">
            <a:avLst/>
          </a:prstGeom>
          <a:noFill/>
          <a:ln/>
        </p:spPr>
        <p:txBody>
          <a:bodyPr wrap="square" lIns="0" tIns="0" rIns="0" bIns="0" rtlCol="0" anchor="ctr">
            <a:normAutofit/>
          </a:bodyPr>
          <a:lstStyle/>
          <a:p>
            <a:pPr indent="0" marL="0">
              <a:buNone/>
            </a:pPr>
            <a:r>
              <a:rPr lang="en-US" sz="1100" b="1" dirty="0">
                <a:solidFill>
                  <a:schemeClr val="bg1"/>
                </a:solidFill>
              </a:rPr>
              <a:t>Combined track · Rafiul Haider</a:t>
            </a:r>
            <a:endParaRPr lang="en-US" sz="1100" dirty="0"/>
          </a:p>
        </p:txBody>
      </p:sp>
      <p:pic>
        <p:nvPicPr>
          <p:cNvPr id="6" name="Image 1" descr="/Users/rafiulhaider/Documents/Misinformation/MIDTERM_PRETRAINED_BASELINE/figures/02_confusion_matrices.png">    </p:cNvPr>
          <p:cNvPicPr>
            <a:picLocks noChangeAspect="1"/>
          </p:cNvPicPr>
          <p:nvPr/>
        </p:nvPicPr>
        <p:blipFill>
          <a:blip r:embed="rId2"/>
          <a:srcRect l="0" r="0" t="0" b="0"/>
          <a:stretch/>
        </p:blipFill>
        <p:spPr>
          <a:xfrm>
            <a:off x="548640" y="1463040"/>
            <a:ext cx="11064240" cy="3657600"/>
          </a:xfrm>
          <a:prstGeom prst="rect">
            <a:avLst/>
          </a:prstGeom>
        </p:spPr>
      </p:pic>
      <p:sp>
        <p:nvSpPr>
          <p:cNvPr id="7" name="Text 3"/>
          <p:cNvSpPr txBox="1"/>
          <p:nvPr/>
        </p:nvSpPr>
        <p:spPr>
          <a:xfrm>
            <a:off x="548640" y="6035040"/>
            <a:ext cx="8595360" cy="274320"/>
          </a:xfrm>
          <a:prstGeom prst="rect">
            <a:avLst/>
          </a:prstGeom>
          <a:noFill/>
          <a:ln/>
        </p:spPr>
        <p:txBody>
          <a:bodyPr wrap="square" lIns="0" tIns="0" rIns="0" bIns="0" rtlCol="0" anchor="ctr"/>
          <a:lstStyle/>
          <a:p>
            <a:pPr indent="0" marL="0">
              <a:buNone/>
            </a:pPr>
            <a:r>
              <a:rPr lang="en-US" sz="1000" i="1" dirty="0">
                <a:solidFill>
                  <a:schemeClr val="accent4"/>
                </a:solidFill>
              </a:rPr>
              <a:t>Zero-shot, image + text. MMFakeBench test (9,999), VERITE (1,001), NewsCLIPpings validation (7,024).</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Backup: where to find everything</a:t>
            </a:r>
            <a:endParaRPr lang="en-US" sz="3200" dirty="0"/>
          </a:p>
        </p:txBody>
      </p:sp>
      <p:sp>
        <p:nvSpPr>
          <p:cNvPr id="3" name="Shape 1"/>
          <p:cNvSpPr/>
          <p:nvPr/>
        </p:nvSpPr>
        <p:spPr>
          <a:xfrm>
            <a:off x="548640" y="1463040"/>
            <a:ext cx="5394960" cy="1463040"/>
          </a:xfrm>
          <a:prstGeom prst="roundRect">
            <a:avLst>
              <a:gd name="adj" fmla="val 9375"/>
            </a:avLst>
          </a:prstGeom>
          <a:solidFill>
            <a:schemeClr val="bg2"/>
          </a:solidFill>
          <a:ln/>
        </p:spPr>
      </p:sp>
      <p:sp>
        <p:nvSpPr>
          <p:cNvPr id="4" name="Text 2"/>
          <p:cNvSpPr txBox="1"/>
          <p:nvPr/>
        </p:nvSpPr>
        <p:spPr>
          <a:xfrm>
            <a:off x="822960" y="1463040"/>
            <a:ext cx="4846320" cy="1463040"/>
          </a:xfrm>
          <a:prstGeom prst="rect">
            <a:avLst/>
          </a:prstGeom>
          <a:noFill/>
          <a:ln/>
        </p:spPr>
        <p:txBody>
          <a:bodyPr wrap="square" lIns="0" tIns="0" rIns="0" bIns="0" rtlCol="0" anchor="ctr"/>
          <a:lstStyle/>
          <a:p>
            <a:pPr indent="0" marL="0">
              <a:buNone/>
            </a:pPr>
            <a:r>
              <a:rPr lang="en-US" sz="1800" b="1" dirty="0">
                <a:solidFill>
                  <a:schemeClr val="tx1"/>
                </a:solidFill>
              </a:rPr>
              <a:t>Showcase folder</a:t>
            </a:r>
            <a:endParaRPr lang="en-US" sz="1800" dirty="0"/>
          </a:p>
          <a:p>
            <a:pPr indent="0" marL="0">
              <a:buNone/>
            </a:pPr>
            <a:r>
              <a:rPr lang="en-US" sz="1400" dirty="0">
                <a:solidFill>
                  <a:schemeClr val="tx1"/>
                </a:solidFill>
              </a:rPr>
              <a:t>MIDTERM_PRETRAINED_BASELINE/README.md</a:t>
            </a:r>
            <a:endParaRPr lang="en-US" sz="1800" dirty="0"/>
          </a:p>
        </p:txBody>
      </p:sp>
      <p:sp>
        <p:nvSpPr>
          <p:cNvPr id="5" name="Shape 3"/>
          <p:cNvSpPr/>
          <p:nvPr/>
        </p:nvSpPr>
        <p:spPr>
          <a:xfrm>
            <a:off x="6172200" y="1463040"/>
            <a:ext cx="5394960" cy="1463040"/>
          </a:xfrm>
          <a:prstGeom prst="roundRect">
            <a:avLst>
              <a:gd name="adj" fmla="val 9375"/>
            </a:avLst>
          </a:prstGeom>
          <a:solidFill>
            <a:schemeClr val="bg2"/>
          </a:solidFill>
          <a:ln/>
        </p:spPr>
      </p:sp>
      <p:sp>
        <p:nvSpPr>
          <p:cNvPr id="6" name="Text 4"/>
          <p:cNvSpPr txBox="1"/>
          <p:nvPr/>
        </p:nvSpPr>
        <p:spPr>
          <a:xfrm>
            <a:off x="6446520" y="1463040"/>
            <a:ext cx="4846320" cy="1463040"/>
          </a:xfrm>
          <a:prstGeom prst="rect">
            <a:avLst/>
          </a:prstGeom>
          <a:noFill/>
          <a:ln/>
        </p:spPr>
        <p:txBody>
          <a:bodyPr wrap="square" lIns="0" tIns="0" rIns="0" bIns="0" rtlCol="0" anchor="ctr"/>
          <a:lstStyle/>
          <a:p>
            <a:pPr indent="0" marL="0">
              <a:buNone/>
            </a:pPr>
            <a:r>
              <a:rPr lang="en-US" sz="1800" b="1" dirty="0">
                <a:solidFill>
                  <a:schemeClr val="tx1"/>
                </a:solidFill>
              </a:rPr>
              <a:t>Executed notebooks</a:t>
            </a:r>
            <a:endParaRPr lang="en-US" sz="1800" dirty="0"/>
          </a:p>
          <a:p>
            <a:pPr indent="0" marL="0">
              <a:buNone/>
            </a:pPr>
            <a:r>
              <a:rPr lang="en-US" sz="1400" dirty="0">
                <a:solidFill>
                  <a:schemeClr val="tx1"/>
                </a:solidFill>
              </a:rPr>
              <a:t>notebooks/01 to 04, each with self-checks</a:t>
            </a:r>
            <a:endParaRPr lang="en-US" sz="1800" dirty="0"/>
          </a:p>
        </p:txBody>
      </p:sp>
      <p:sp>
        <p:nvSpPr>
          <p:cNvPr id="7" name="Shape 5"/>
          <p:cNvSpPr/>
          <p:nvPr/>
        </p:nvSpPr>
        <p:spPr>
          <a:xfrm>
            <a:off x="548640" y="3291840"/>
            <a:ext cx="5394960" cy="1463040"/>
          </a:xfrm>
          <a:prstGeom prst="roundRect">
            <a:avLst>
              <a:gd name="adj" fmla="val 9375"/>
            </a:avLst>
          </a:prstGeom>
          <a:solidFill>
            <a:schemeClr val="bg2"/>
          </a:solidFill>
          <a:ln/>
        </p:spPr>
      </p:sp>
      <p:sp>
        <p:nvSpPr>
          <p:cNvPr id="8" name="Text 6"/>
          <p:cNvSpPr txBox="1"/>
          <p:nvPr/>
        </p:nvSpPr>
        <p:spPr>
          <a:xfrm>
            <a:off x="822960" y="3291840"/>
            <a:ext cx="4846320" cy="1463040"/>
          </a:xfrm>
          <a:prstGeom prst="rect">
            <a:avLst/>
          </a:prstGeom>
          <a:noFill/>
          <a:ln/>
        </p:spPr>
        <p:txBody>
          <a:bodyPr wrap="square" lIns="0" tIns="0" rIns="0" bIns="0" rtlCol="0" anchor="ctr"/>
          <a:lstStyle/>
          <a:p>
            <a:pPr indent="0" marL="0">
              <a:buNone/>
            </a:pPr>
            <a:r>
              <a:rPr lang="en-US" sz="1800" b="1" dirty="0">
                <a:solidFill>
                  <a:schemeClr val="tx1"/>
                </a:solidFill>
              </a:rPr>
              <a:t>Detailed dashboard</a:t>
            </a:r>
            <a:endParaRPr lang="en-US" sz="1800" dirty="0"/>
          </a:p>
          <a:p>
            <a:pPr indent="0" marL="0">
              <a:buNone/>
            </a:pPr>
            <a:r>
              <a:rPr lang="en-US" sz="1400" dirty="0">
                <a:solidFill>
                  <a:schemeClr val="tx1"/>
                </a:solidFill>
              </a:rPr>
              <a:t>http://localhost:8501</a:t>
            </a:r>
            <a:endParaRPr lang="en-US" sz="1800" dirty="0"/>
          </a:p>
        </p:txBody>
      </p:sp>
      <p:sp>
        <p:nvSpPr>
          <p:cNvPr id="9" name="Shape 7"/>
          <p:cNvSpPr/>
          <p:nvPr/>
        </p:nvSpPr>
        <p:spPr>
          <a:xfrm>
            <a:off x="6172200" y="3291840"/>
            <a:ext cx="5394960" cy="1463040"/>
          </a:xfrm>
          <a:prstGeom prst="roundRect">
            <a:avLst>
              <a:gd name="adj" fmla="val 9375"/>
            </a:avLst>
          </a:prstGeom>
          <a:solidFill>
            <a:schemeClr val="bg2"/>
          </a:solidFill>
          <a:ln/>
        </p:spPr>
      </p:sp>
      <p:sp>
        <p:nvSpPr>
          <p:cNvPr id="10" name="Text 8"/>
          <p:cNvSpPr txBox="1"/>
          <p:nvPr/>
        </p:nvSpPr>
        <p:spPr>
          <a:xfrm>
            <a:off x="6446520" y="3291840"/>
            <a:ext cx="4846320" cy="1463040"/>
          </a:xfrm>
          <a:prstGeom prst="rect">
            <a:avLst/>
          </a:prstGeom>
          <a:noFill/>
          <a:ln/>
        </p:spPr>
        <p:txBody>
          <a:bodyPr wrap="square" lIns="0" tIns="0" rIns="0" bIns="0" rtlCol="0" anchor="ctr"/>
          <a:lstStyle/>
          <a:p>
            <a:pPr indent="0" marL="0">
              <a:buNone/>
            </a:pPr>
            <a:r>
              <a:rPr lang="en-US" sz="1800" b="1" dirty="0">
                <a:solidFill>
                  <a:schemeClr val="tx1"/>
                </a:solidFill>
              </a:rPr>
              <a:t>Plain-language dashboard</a:t>
            </a:r>
            <a:endParaRPr lang="en-US" sz="1800" dirty="0"/>
          </a:p>
          <a:p>
            <a:pPr indent="0" marL="0">
              <a:buNone/>
            </a:pPr>
            <a:r>
              <a:rPr lang="en-US" sz="1400" dirty="0">
                <a:solidFill>
                  <a:schemeClr val="tx1"/>
                </a:solidFill>
              </a:rPr>
              <a:t>http://localhost:8502</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S668 Three Track">
  <a:themeElements>
    <a:clrScheme name="CS668 Three Track">
      <a:dk1>
        <a:srgbClr val="1B2333"/>
      </a:dk1>
      <a:lt1>
        <a:srgbClr val="FFFFFF"/>
      </a:lt1>
      <a:dk2>
        <a:srgbClr val="16233A"/>
      </a:dk2>
      <a:lt2>
        <a:srgbClr val="EEF1F6"/>
      </a:lt2>
      <a:accent1>
        <a:srgbClr val="0F8B8D"/>
      </a:accent1>
      <a:accent2>
        <a:srgbClr val="D98E2B"/>
      </a:accent2>
      <a:accent3>
        <a:srgbClr val="6A55C9"/>
      </a:accent3>
      <a:accent4>
        <a:srgbClr val="9AA5B1"/>
      </a:accent4>
      <a:accent5>
        <a:srgbClr val="C8553D"/>
      </a:accent5>
      <a:accent6>
        <a:srgbClr val="3F8F5B"/>
      </a:accent6>
      <a:hlink>
        <a:srgbClr val="0F8B8D"/>
      </a:hlink>
      <a:folHlink>
        <a:srgbClr val="6A55C9"/>
      </a:folHlink>
    </a:clrScheme>
    <a:fontScheme name="CS668 Three 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668 Multimodal Misinformation Detector: midterm</dc:title>
  <dc:subject>PptxGenJS Presentation</dc:subject>
  <dc:creator>Harika Etikela, Ananya, Rafiul Haider</dc:creator>
  <cp:lastModifiedBy>Harika Etikela, Ananya, Rafiul Haider</cp:lastModifiedBy>
  <cp:revision>1</cp:revision>
  <dcterms:created xsi:type="dcterms:W3CDTF">2026-10-26T04:23:58Z</dcterms:created>
  <dcterms:modified xsi:type="dcterms:W3CDTF">2026-10-26T04:23:58Z</dcterms:modified>
</cp:coreProperties>
</file>